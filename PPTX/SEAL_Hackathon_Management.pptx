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Chào thầy/cô và giới thiệu đề tài: hệ thống web quản lý cuộc thi SEAL Hackathon. Nhấn mạnh nhóm xây dựng sản phẩm có thể chạy demo, có dashboard và có phần RBL nghiên cứu độ tin cậy giữa giám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Nêu lộ trình và cam kết bài thuyết trình dưới 25 phút. Báo trước phần quan trọng nhất là thiết kế, demo dashboard và module RBL.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Trình bày bối cảnh SEAL nhiều mùa, nhiều vòng, nhiều vai trò. Nêu bốn vấn đề: sai sót dữ liệu, chậm tổng hợp điểm, thiếu audit log và không đủ dữ liệu cho RBL. Kết luận: cần một hệ thống web tập trung.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Giải thích mục tiêu theo 5 nhóm: tài khoản, sự kiện, đội/bài nộp, chấm/xếp hạng, RBL. Nêu rõ phạm vi hiện tại để tránh bị hỏi quá rộng: GitHub API và email thật là hướng phát triển, không phải phần bắt buộc.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Nói theo vai trò: đội thi, mentor, judge và ban tổ chức. Nhấn mạnh Event Coordinator là vai trò trung tâm; Judge chỉ chấm phần được phân công; Team Leader chịu trách nhiệm nộp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Dựa vào activity diagram, diễn giải theo chuỗi từ đăng ký đến công bố kết quả. Khi trình bày nên nhấn mạnh các điểm kiểm tra hợp lệ: tài khoản, đội 3–5 thành viên, bài nộp và điểm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Trình bày kiến trúc ba tầng. Nêu rằng giao diện có hai phương án: chạy gộp với Spring Boot để demo nhanh hoặc tách Next.js để mở rộng. API REST và JWT là cầu nối giữa các tầng.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Nói ngắn về các thực thể chính. Nhấn mạnh quyết định thiết kế quan trọng nhất: không chỉ lưu điểm trung bình mà lưu điểm theo từng giám khảo, tiêu chí và bài nộp. Đây là nền tảng cho audit và RBL.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Liệt kê module theo dashboard. Cố gắng không đọc từng dòng quá lâu, chỉ nhấn mạnh hệ thống bao phủ vòng đời cuộc thi từ tạo sự kiện đến RBL.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Giải thích RankingService bằng ngôn ngữ dễ hiểu, không đọc code. Điểm được chấm theo tiêu chí, trung bình theo giám khảo, nhân trọng số và xếp hạng. Chốt lại: lưu điểm gốc là điểm khác biệt với hệ thống CRUD đơn giản.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Đây là slide quan trọng. Hãy nói: điểm mới của đề tài là phục vụ cả tổ chức cuộc thi và nghiên cứu. Hệ thống lưu điểm từng judge, criterion, submission; nhờ đó tính phương sai, ICC và alpha xấp xỉ, đồng thời xuất CSV để phân tích sâu hơn bằng Python hoặc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 phút nếu có chạy demo thật. Nếu chỉ trình bày slide, mô tả luồng demo theo 5 bước. Nhấn mạnh giao diện có nút chọn nhanh tài khoản demo và dashboard chia tab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Mô tả flow JWT: login, nhận token, gửi token trong header, backend kiểm tra trước khi cho vào API. Nêu các nhóm endpoint để hội đồng thấy API được thiết kế theo nghiệp vụ.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Nêu rõ cách chạy: chỉ cần backend là có giao diện tĩnh để demo. Swagger và Postman hỗ trợ kiểm thử API. Trình bày kịch bản kiểm thử theo luồng từ đăng nhập đến RBL.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Nêu hạn chế chủ động, không né tránh. Cách nói: đây là hướng phát triển để hệ thống tiến gần môi trường triển khai thật hơn. Phần bắt buộc hiện tại đã hoàn thành.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1 phút. Tóm tắt các kết quả chính và kết thúc bằng thông điệp: ứng dụng quản lý + dữ liệu nghiên cứu. Sau đó chuyển sang phần hỏi đáp hoặc demo nếu hội đồng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9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9FF"/>
        </a:solidFill>
      </p:bgPr>
    </p:bg>
    <p:spTree>
      <p:nvGrpSpPr>
        <p:cNvPr id="1" name=""/>
        <p:cNvGrpSpPr/>
        <p:nvPr/>
      </p:nvGrpSpPr>
      <p:grpSpPr>
        <a:xfrm>
          <a:off x="0" y="0"/>
          <a:ext cx="0" cy="0"/>
          <a:chOff x="0" y="0"/>
          <a:chExt cx="0" cy="0"/>
        </a:xfrm>
      </p:grpSpPr>
      <p:pic>
        <p:nvPicPr>
          <p:cNvPr id="2" name="Image 0" descr="/mnt/data/seal_screens/landing.png">    </p:cNvPr>
          <p:cNvPicPr>
            <a:picLocks noChangeAspect="1"/>
          </p:cNvPicPr>
          <p:nvPr/>
        </p:nvPicPr>
        <p:blipFill>
          <a:blip r:embed="rId1">
            <a:alphaModFix amt="88000"/>
          </a:blip>
          <a:srcRect l="18000" r="21199" t="5000" b="13000"/>
          <a:stretch/>
        </p:blipFill>
        <p:spPr>
          <a:xfrm>
            <a:off x="6400800" y="640080"/>
            <a:ext cx="5303520" cy="4023360"/>
          </a:xfrm>
          <a:prstGeom prst="rect">
            <a:avLst/>
          </a:prstGeom>
        </p:spPr>
      </p:pic>
      <p:sp>
        <p:nvSpPr>
          <p:cNvPr id="3" name="Shape 0"/>
          <p:cNvSpPr/>
          <p:nvPr/>
        </p:nvSpPr>
        <p:spPr>
          <a:xfrm>
            <a:off x="6080760" y="502920"/>
            <a:ext cx="36576" cy="5440680"/>
          </a:xfrm>
          <a:prstGeom prst="rect">
            <a:avLst/>
          </a:prstGeom>
          <a:solidFill>
            <a:srgbClr val="0B4FD8"/>
          </a:solidFill>
          <a:ln w="12700">
            <a:solidFill>
              <a:srgbClr val="0B4FD8">
                <a:alpha val="0"/>
              </a:srgbClr>
            </a:solidFill>
            <a:prstDash val="solid"/>
          </a:ln>
        </p:spPr>
      </p:sp>
      <p:pic>
        <p:nvPicPr>
          <p:cNvPr id="4" name="Image 1" descr="/mnt/data/docx_media/image1.png">    </p:cNvPr>
          <p:cNvPicPr>
            <a:picLocks noChangeAspect="1"/>
          </p:cNvPicPr>
          <p:nvPr/>
        </p:nvPicPr>
        <p:blipFill>
          <a:blip r:embed="rId2"/>
          <a:stretch>
            <a:fillRect/>
          </a:stretch>
        </p:blipFill>
        <p:spPr>
          <a:xfrm>
            <a:off x="658368" y="566928"/>
            <a:ext cx="2240280" cy="420624"/>
          </a:xfrm>
          <a:prstGeom prst="rect">
            <a:avLst/>
          </a:prstGeom>
        </p:spPr>
      </p:pic>
      <p:sp>
        <p:nvSpPr>
          <p:cNvPr id="5" name="Shape 1"/>
          <p:cNvSpPr/>
          <p:nvPr/>
        </p:nvSpPr>
        <p:spPr>
          <a:xfrm>
            <a:off x="658368" y="1243584"/>
            <a:ext cx="2834640" cy="320040"/>
          </a:xfrm>
          <a:prstGeom prst="roundRect">
            <a:avLst>
              <a:gd name="adj" fmla="val 22857"/>
            </a:avLst>
          </a:prstGeom>
          <a:solidFill>
            <a:srgbClr val="EAF2FF"/>
          </a:solidFill>
          <a:ln w="12700">
            <a:solidFill>
              <a:srgbClr val="EAF2FF">
                <a:alpha val="0"/>
              </a:srgbClr>
            </a:solidFill>
            <a:prstDash val="solid"/>
          </a:ln>
        </p:spPr>
      </p:sp>
      <p:sp>
        <p:nvSpPr>
          <p:cNvPr id="6" name="Text 2"/>
          <p:cNvSpPr/>
          <p:nvPr/>
        </p:nvSpPr>
        <p:spPr>
          <a:xfrm>
            <a:off x="731520" y="1316736"/>
            <a:ext cx="2688336" cy="146304"/>
          </a:xfrm>
          <a:prstGeom prst="rect">
            <a:avLst/>
          </a:prstGeom>
          <a:noFill/>
          <a:ln/>
        </p:spPr>
        <p:txBody>
          <a:bodyPr wrap="square" lIns="0" tIns="0" rIns="0" bIns="0" rtlCol="0" anchor="ctr"/>
          <a:lstStyle/>
          <a:p>
            <a:pPr algn="ctr" indent="0" marL="0">
              <a:buNone/>
            </a:pPr>
            <a:r>
              <a:rPr lang="en-US" sz="750" b="1" dirty="0">
                <a:solidFill>
                  <a:srgbClr val="0B4FD8"/>
                </a:solidFill>
              </a:rPr>
              <a:t>BÁO CÁO CUỐI KỲ · LẬP TRÌNH JAVA</a:t>
            </a:r>
            <a:endParaRPr lang="en-US" sz="750" dirty="0"/>
          </a:p>
        </p:txBody>
      </p:sp>
      <p:sp>
        <p:nvSpPr>
          <p:cNvPr id="7" name="Text 3"/>
          <p:cNvSpPr/>
          <p:nvPr/>
        </p:nvSpPr>
        <p:spPr>
          <a:xfrm>
            <a:off x="658368" y="1691640"/>
            <a:ext cx="5120640" cy="1325880"/>
          </a:xfrm>
          <a:prstGeom prst="rect">
            <a:avLst/>
          </a:prstGeom>
          <a:noFill/>
          <a:ln/>
        </p:spPr>
        <p:txBody>
          <a:bodyPr wrap="square" lIns="254" tIns="254" rIns="254" bIns="254" rtlCol="0" anchor="ctr">
            <a:normAutofit/>
          </a:bodyPr>
          <a:lstStyle/>
          <a:p>
            <a:pPr indent="0" marL="0">
              <a:buNone/>
            </a:pPr>
            <a:r>
              <a:rPr lang="en-US" sz="3500" b="1" dirty="0">
                <a:solidFill>
                  <a:srgbClr val="0F172A"/>
                </a:solidFill>
              </a:rPr>
              <a:t>HỆ THỐNG QUẢN LÝ CUỘC THI</a:t>
            </a:r>
            <a:endParaRPr lang="en-US" sz="3500" dirty="0"/>
          </a:p>
          <a:p>
            <a:pPr indent="0" marL="0">
              <a:buNone/>
            </a:pPr>
            <a:r>
              <a:rPr lang="en-US" sz="3500" b="1" dirty="0">
                <a:solidFill>
                  <a:srgbClr val="0F172A"/>
                </a:solidFill>
              </a:rPr>
              <a:t>SEAL HACKATHON</a:t>
            </a:r>
            <a:endParaRPr lang="en-US" sz="3500" dirty="0"/>
          </a:p>
        </p:txBody>
      </p:sp>
      <p:sp>
        <p:nvSpPr>
          <p:cNvPr id="8" name="Text 4"/>
          <p:cNvSpPr/>
          <p:nvPr/>
        </p:nvSpPr>
        <p:spPr>
          <a:xfrm>
            <a:off x="658368" y="3127248"/>
            <a:ext cx="4389120" cy="274320"/>
          </a:xfrm>
          <a:prstGeom prst="rect">
            <a:avLst/>
          </a:prstGeom>
          <a:noFill/>
          <a:ln/>
        </p:spPr>
        <p:txBody>
          <a:bodyPr wrap="square" lIns="0" tIns="0" rIns="0" bIns="0" rtlCol="0" anchor="ctr"/>
          <a:lstStyle/>
          <a:p>
            <a:pPr indent="0" marL="0">
              <a:buNone/>
            </a:pPr>
            <a:r>
              <a:rPr lang="en-US" sz="1700" b="1" dirty="0">
                <a:solidFill>
                  <a:srgbClr val="0B4FD8"/>
                </a:solidFill>
              </a:rPr>
              <a:t>Ngành Kỹ thuật Phần mềm · SU26SWP04</a:t>
            </a:r>
            <a:endParaRPr lang="en-US" sz="1700" dirty="0"/>
          </a:p>
        </p:txBody>
      </p:sp>
      <p:sp>
        <p:nvSpPr>
          <p:cNvPr id="9" name="Text 5"/>
          <p:cNvSpPr/>
          <p:nvPr/>
        </p:nvSpPr>
        <p:spPr>
          <a:xfrm>
            <a:off x="658368" y="3703320"/>
            <a:ext cx="4572000" cy="731520"/>
          </a:xfrm>
          <a:prstGeom prst="rect">
            <a:avLst/>
          </a:prstGeom>
          <a:noFill/>
          <a:ln/>
        </p:spPr>
        <p:txBody>
          <a:bodyPr wrap="square" lIns="0" tIns="0" rIns="0" bIns="0" rtlCol="0" anchor="ctr">
            <a:normAutofit/>
          </a:bodyPr>
          <a:lstStyle/>
          <a:p>
            <a:pPr indent="0" marL="0">
              <a:buNone/>
            </a:pPr>
            <a:r>
              <a:rPr lang="en-US" sz="1450" dirty="0">
                <a:solidFill>
                  <a:srgbClr val="64748B"/>
                </a:solidFill>
              </a:rPr>
              <a:t>Mục tiêu thuyết trình: trình bày vấn đề, giải pháp, thiết kế, triển khai và giá trị nghiên cứu RBL trong thời lượng dưới 25 phút.</a:t>
            </a:r>
            <a:endParaRPr lang="en-US" sz="1450" dirty="0"/>
          </a:p>
        </p:txBody>
      </p:sp>
      <p:sp>
        <p:nvSpPr>
          <p:cNvPr id="10" name="Shape 6"/>
          <p:cNvSpPr/>
          <p:nvPr/>
        </p:nvSpPr>
        <p:spPr>
          <a:xfrm>
            <a:off x="658368" y="4892040"/>
            <a:ext cx="2468880" cy="749808"/>
          </a:xfrm>
          <a:prstGeom prst="roundRect">
            <a:avLst>
              <a:gd name="adj" fmla="val 14634"/>
            </a:avLst>
          </a:prstGeom>
          <a:solidFill>
            <a:srgbClr val="FFFFFF"/>
          </a:solidFill>
          <a:ln w="12700">
            <a:solidFill>
              <a:srgbClr val="D8E4F7"/>
            </a:solidFill>
            <a:prstDash val="solid"/>
          </a:ln>
        </p:spPr>
      </p:sp>
      <p:sp>
        <p:nvSpPr>
          <p:cNvPr id="11" name="Shape 7"/>
          <p:cNvSpPr/>
          <p:nvPr/>
        </p:nvSpPr>
        <p:spPr>
          <a:xfrm>
            <a:off x="658368" y="4892040"/>
            <a:ext cx="73152" cy="749808"/>
          </a:xfrm>
          <a:prstGeom prst="rect">
            <a:avLst/>
          </a:prstGeom>
          <a:solidFill>
            <a:srgbClr val="0B4FD8"/>
          </a:solidFill>
          <a:ln w="12700">
            <a:solidFill>
              <a:srgbClr val="0B4FD8">
                <a:alpha val="0"/>
              </a:srgbClr>
            </a:solidFill>
            <a:prstDash val="solid"/>
          </a:ln>
        </p:spPr>
      </p:sp>
      <p:sp>
        <p:nvSpPr>
          <p:cNvPr id="12" name="Text 8"/>
          <p:cNvSpPr/>
          <p:nvPr/>
        </p:nvSpPr>
        <p:spPr>
          <a:xfrm>
            <a:off x="886968" y="5093208"/>
            <a:ext cx="21031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Công nghệ chính</a:t>
            </a:r>
            <a:endParaRPr lang="en-US" sz="1200" dirty="0"/>
          </a:p>
        </p:txBody>
      </p:sp>
      <p:sp>
        <p:nvSpPr>
          <p:cNvPr id="13" name="Text 9"/>
          <p:cNvSpPr/>
          <p:nvPr/>
        </p:nvSpPr>
        <p:spPr>
          <a:xfrm>
            <a:off x="886968" y="5458968"/>
            <a:ext cx="2121408" cy="36576"/>
          </a:xfrm>
          <a:prstGeom prst="rect">
            <a:avLst/>
          </a:prstGeom>
          <a:noFill/>
          <a:ln/>
        </p:spPr>
        <p:txBody>
          <a:bodyPr wrap="square" lIns="0" tIns="0" rIns="0" bIns="0" rtlCol="0" anchor="ctr">
            <a:normAutofit/>
          </a:bodyPr>
          <a:lstStyle/>
          <a:p>
            <a:pPr indent="0" marL="0">
              <a:buNone/>
            </a:pPr>
            <a:r>
              <a:rPr lang="en-US" sz="1050" dirty="0">
                <a:solidFill>
                  <a:srgbClr val="64748B"/>
                </a:solidFill>
              </a:rPr>
              <a:t>Java Spring Boot · JWT · REST API · H2/SQL Server · Next.js/React</a:t>
            </a:r>
            <a:endParaRPr lang="en-US" sz="1050" dirty="0"/>
          </a:p>
        </p:txBody>
      </p:sp>
      <p:sp>
        <p:nvSpPr>
          <p:cNvPr id="14" name="Shape 10"/>
          <p:cNvSpPr/>
          <p:nvPr/>
        </p:nvSpPr>
        <p:spPr>
          <a:xfrm>
            <a:off x="3310128" y="4892040"/>
            <a:ext cx="2468880" cy="749808"/>
          </a:xfrm>
          <a:prstGeom prst="roundRect">
            <a:avLst>
              <a:gd name="adj" fmla="val 14634"/>
            </a:avLst>
          </a:prstGeom>
          <a:solidFill>
            <a:srgbClr val="FFFFFF"/>
          </a:solidFill>
          <a:ln w="12700">
            <a:solidFill>
              <a:srgbClr val="D8E4F7"/>
            </a:solidFill>
            <a:prstDash val="solid"/>
          </a:ln>
        </p:spPr>
      </p:sp>
      <p:sp>
        <p:nvSpPr>
          <p:cNvPr id="15" name="Shape 11"/>
          <p:cNvSpPr/>
          <p:nvPr/>
        </p:nvSpPr>
        <p:spPr>
          <a:xfrm>
            <a:off x="3310128" y="4892040"/>
            <a:ext cx="73152" cy="749808"/>
          </a:xfrm>
          <a:prstGeom prst="rect">
            <a:avLst/>
          </a:prstGeom>
          <a:solidFill>
            <a:srgbClr val="14B8A6"/>
          </a:solidFill>
          <a:ln w="12700">
            <a:solidFill>
              <a:srgbClr val="14B8A6">
                <a:alpha val="0"/>
              </a:srgbClr>
            </a:solidFill>
            <a:prstDash val="solid"/>
          </a:ln>
        </p:spPr>
      </p:sp>
      <p:sp>
        <p:nvSpPr>
          <p:cNvPr id="16" name="Text 12"/>
          <p:cNvSpPr/>
          <p:nvPr/>
        </p:nvSpPr>
        <p:spPr>
          <a:xfrm>
            <a:off x="3538728" y="5093208"/>
            <a:ext cx="21031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Sản phẩm demo</a:t>
            </a:r>
            <a:endParaRPr lang="en-US" sz="1200" dirty="0"/>
          </a:p>
        </p:txBody>
      </p:sp>
      <p:sp>
        <p:nvSpPr>
          <p:cNvPr id="17" name="Text 13"/>
          <p:cNvSpPr/>
          <p:nvPr/>
        </p:nvSpPr>
        <p:spPr>
          <a:xfrm>
            <a:off x="3538728" y="5458968"/>
            <a:ext cx="2121408" cy="36576"/>
          </a:xfrm>
          <a:prstGeom prst="rect">
            <a:avLst/>
          </a:prstGeom>
          <a:noFill/>
          <a:ln/>
        </p:spPr>
        <p:txBody>
          <a:bodyPr wrap="square" lIns="0" tIns="0" rIns="0" bIns="0" rtlCol="0" anchor="ctr">
            <a:normAutofit/>
          </a:bodyPr>
          <a:lstStyle/>
          <a:p>
            <a:pPr indent="0" marL="0">
              <a:buNone/>
            </a:pPr>
            <a:r>
              <a:rPr lang="en-US" sz="1050" dirty="0">
                <a:solidFill>
                  <a:srgbClr val="64748B"/>
                </a:solidFill>
              </a:rPr>
              <a:t>Dashboard tiếng Việt · tài khoản demo · Swagger/OpenAPI</a:t>
            </a:r>
            <a:endParaRPr lang="en-US" sz="1050" dirty="0"/>
          </a:p>
        </p:txBody>
      </p:sp>
      <p:sp>
        <p:nvSpPr>
          <p:cNvPr id="18" name="Text 14"/>
          <p:cNvSpPr/>
          <p:nvPr/>
        </p:nvSpPr>
        <p:spPr>
          <a:xfrm>
            <a:off x="658368" y="6199632"/>
            <a:ext cx="5669280" cy="182880"/>
          </a:xfrm>
          <a:prstGeom prst="rect">
            <a:avLst/>
          </a:prstGeom>
          <a:noFill/>
          <a:ln/>
        </p:spPr>
        <p:txBody>
          <a:bodyPr wrap="square" lIns="0" tIns="0" rIns="0" bIns="0" rtlCol="0" anchor="ctr"/>
          <a:lstStyle/>
          <a:p>
            <a:pPr indent="0" marL="0">
              <a:buNone/>
            </a:pPr>
            <a:r>
              <a:rPr lang="en-US" sz="950" dirty="0">
                <a:solidFill>
                  <a:srgbClr val="64748B"/>
                </a:solidFill>
              </a:rPr>
              <a:t>GVHD: Thầy Nguyễn Văn Chiến · TP. Hồ Chí Minh, 07/2026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AGENDA</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Lộ trình thuyết trình dưới 25 phút</a:t>
            </a:r>
            <a:endParaRPr lang="en-US" sz="2700" dirty="0"/>
          </a:p>
        </p:txBody>
      </p:sp>
      <p:sp>
        <p:nvSpPr>
          <p:cNvPr id="5" name="Shape 3"/>
          <p:cNvSpPr/>
          <p:nvPr/>
        </p:nvSpPr>
        <p:spPr>
          <a:xfrm>
            <a:off x="841248" y="1417320"/>
            <a:ext cx="502920" cy="502920"/>
          </a:xfrm>
          <a:prstGeom prst="ellipse">
            <a:avLst/>
          </a:prstGeom>
          <a:solidFill>
            <a:srgbClr val="0B4FD8"/>
          </a:solidFill>
          <a:ln w="12700">
            <a:solidFill>
              <a:srgbClr val="0B4FD8">
                <a:alpha val="0"/>
              </a:srgbClr>
            </a:solidFill>
            <a:prstDash val="solid"/>
          </a:ln>
        </p:spPr>
      </p:sp>
      <p:sp>
        <p:nvSpPr>
          <p:cNvPr id="6" name="Text 4"/>
          <p:cNvSpPr/>
          <p:nvPr/>
        </p:nvSpPr>
        <p:spPr>
          <a:xfrm>
            <a:off x="841248" y="1563624"/>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7" name="Text 5"/>
          <p:cNvSpPr/>
          <p:nvPr/>
        </p:nvSpPr>
        <p:spPr>
          <a:xfrm>
            <a:off x="1572768" y="1472184"/>
            <a:ext cx="4297680" cy="228600"/>
          </a:xfrm>
          <a:prstGeom prst="rect">
            <a:avLst/>
          </a:prstGeom>
          <a:noFill/>
          <a:ln/>
        </p:spPr>
        <p:txBody>
          <a:bodyPr wrap="square" lIns="0" tIns="0" rIns="0" bIns="0" rtlCol="0" anchor="ctr"/>
          <a:lstStyle/>
          <a:p>
            <a:pPr indent="0" marL="0">
              <a:buNone/>
            </a:pPr>
            <a:r>
              <a:rPr lang="en-US" sz="1900" b="1" dirty="0">
                <a:solidFill>
                  <a:srgbClr val="0F172A"/>
                </a:solidFill>
              </a:rPr>
              <a:t>Tổng quan &amp; vấn đề</a:t>
            </a:r>
            <a:endParaRPr lang="en-US" sz="1900" dirty="0"/>
          </a:p>
        </p:txBody>
      </p:sp>
      <p:sp>
        <p:nvSpPr>
          <p:cNvPr id="8" name="Text 6"/>
          <p:cNvSpPr/>
          <p:nvPr/>
        </p:nvSpPr>
        <p:spPr>
          <a:xfrm>
            <a:off x="5961888" y="1490472"/>
            <a:ext cx="1097280" cy="201168"/>
          </a:xfrm>
          <a:prstGeom prst="rect">
            <a:avLst/>
          </a:prstGeom>
          <a:noFill/>
          <a:ln/>
        </p:spPr>
        <p:txBody>
          <a:bodyPr wrap="square" lIns="0" tIns="0" rIns="0" bIns="0" rtlCol="0" anchor="ctr"/>
          <a:lstStyle/>
          <a:p>
            <a:pPr algn="r" indent="0" marL="0">
              <a:buNone/>
            </a:pPr>
            <a:r>
              <a:rPr lang="en-US" sz="1200" b="1" dirty="0">
                <a:solidFill>
                  <a:srgbClr val="0B4FD8"/>
                </a:solidFill>
              </a:rPr>
              <a:t>3 phút</a:t>
            </a:r>
            <a:endParaRPr lang="en-US" sz="1200" dirty="0"/>
          </a:p>
        </p:txBody>
      </p:sp>
      <p:sp>
        <p:nvSpPr>
          <p:cNvPr id="9" name="Shape 7"/>
          <p:cNvSpPr/>
          <p:nvPr/>
        </p:nvSpPr>
        <p:spPr>
          <a:xfrm>
            <a:off x="1088136" y="1920240"/>
            <a:ext cx="0" cy="283464"/>
          </a:xfrm>
          <a:prstGeom prst="line">
            <a:avLst/>
          </a:prstGeom>
          <a:noFill/>
          <a:ln w="17780">
            <a:solidFill>
              <a:srgbClr val="D8E4F7"/>
            </a:solidFill>
            <a:prstDash val="solid"/>
          </a:ln>
        </p:spPr>
      </p:sp>
      <p:sp>
        <p:nvSpPr>
          <p:cNvPr id="10" name="Shape 8"/>
          <p:cNvSpPr/>
          <p:nvPr/>
        </p:nvSpPr>
        <p:spPr>
          <a:xfrm>
            <a:off x="841248" y="2203704"/>
            <a:ext cx="502920" cy="502920"/>
          </a:xfrm>
          <a:prstGeom prst="ellipse">
            <a:avLst/>
          </a:prstGeom>
          <a:solidFill>
            <a:srgbClr val="14B8A6"/>
          </a:solidFill>
          <a:ln w="12700">
            <a:solidFill>
              <a:srgbClr val="14B8A6">
                <a:alpha val="0"/>
              </a:srgbClr>
            </a:solidFill>
            <a:prstDash val="solid"/>
          </a:ln>
        </p:spPr>
      </p:sp>
      <p:sp>
        <p:nvSpPr>
          <p:cNvPr id="11" name="Text 9"/>
          <p:cNvSpPr/>
          <p:nvPr/>
        </p:nvSpPr>
        <p:spPr>
          <a:xfrm>
            <a:off x="841248" y="2350008"/>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2" name="Text 10"/>
          <p:cNvSpPr/>
          <p:nvPr/>
        </p:nvSpPr>
        <p:spPr>
          <a:xfrm>
            <a:off x="1572768" y="2258568"/>
            <a:ext cx="4297680" cy="228600"/>
          </a:xfrm>
          <a:prstGeom prst="rect">
            <a:avLst/>
          </a:prstGeom>
          <a:noFill/>
          <a:ln/>
        </p:spPr>
        <p:txBody>
          <a:bodyPr wrap="square" lIns="0" tIns="0" rIns="0" bIns="0" rtlCol="0" anchor="ctr"/>
          <a:lstStyle/>
          <a:p>
            <a:pPr indent="0" marL="0">
              <a:buNone/>
            </a:pPr>
            <a:r>
              <a:rPr lang="en-US" sz="1900" b="1" dirty="0">
                <a:solidFill>
                  <a:srgbClr val="0F172A"/>
                </a:solidFill>
              </a:rPr>
              <a:t>Mục tiêu, phạm vi, tác nhân</a:t>
            </a:r>
            <a:endParaRPr lang="en-US" sz="1900" dirty="0"/>
          </a:p>
        </p:txBody>
      </p:sp>
      <p:sp>
        <p:nvSpPr>
          <p:cNvPr id="13" name="Text 11"/>
          <p:cNvSpPr/>
          <p:nvPr/>
        </p:nvSpPr>
        <p:spPr>
          <a:xfrm>
            <a:off x="5961888" y="2276856"/>
            <a:ext cx="1097280" cy="201168"/>
          </a:xfrm>
          <a:prstGeom prst="rect">
            <a:avLst/>
          </a:prstGeom>
          <a:noFill/>
          <a:ln/>
        </p:spPr>
        <p:txBody>
          <a:bodyPr wrap="square" lIns="0" tIns="0" rIns="0" bIns="0" rtlCol="0" anchor="ctr"/>
          <a:lstStyle/>
          <a:p>
            <a:pPr algn="r" indent="0" marL="0">
              <a:buNone/>
            </a:pPr>
            <a:r>
              <a:rPr lang="en-US" sz="1200" b="1" dirty="0">
                <a:solidFill>
                  <a:srgbClr val="14B8A6"/>
                </a:solidFill>
              </a:rPr>
              <a:t>4 phút</a:t>
            </a:r>
            <a:endParaRPr lang="en-US" sz="1200" dirty="0"/>
          </a:p>
        </p:txBody>
      </p:sp>
      <p:sp>
        <p:nvSpPr>
          <p:cNvPr id="14" name="Shape 12"/>
          <p:cNvSpPr/>
          <p:nvPr/>
        </p:nvSpPr>
        <p:spPr>
          <a:xfrm>
            <a:off x="1088136" y="2706624"/>
            <a:ext cx="0" cy="283464"/>
          </a:xfrm>
          <a:prstGeom prst="line">
            <a:avLst/>
          </a:prstGeom>
          <a:noFill/>
          <a:ln w="17780">
            <a:solidFill>
              <a:srgbClr val="D8E4F7"/>
            </a:solidFill>
            <a:prstDash val="solid"/>
          </a:ln>
        </p:spPr>
      </p:sp>
      <p:sp>
        <p:nvSpPr>
          <p:cNvPr id="15" name="Shape 13"/>
          <p:cNvSpPr/>
          <p:nvPr/>
        </p:nvSpPr>
        <p:spPr>
          <a:xfrm>
            <a:off x="841248" y="2990088"/>
            <a:ext cx="502920" cy="502920"/>
          </a:xfrm>
          <a:prstGeom prst="ellipse">
            <a:avLst/>
          </a:prstGeom>
          <a:solidFill>
            <a:srgbClr val="F97316"/>
          </a:solidFill>
          <a:ln w="12700">
            <a:solidFill>
              <a:srgbClr val="F97316">
                <a:alpha val="0"/>
              </a:srgbClr>
            </a:solidFill>
            <a:prstDash val="solid"/>
          </a:ln>
        </p:spPr>
      </p:sp>
      <p:sp>
        <p:nvSpPr>
          <p:cNvPr id="16" name="Text 14"/>
          <p:cNvSpPr/>
          <p:nvPr/>
        </p:nvSpPr>
        <p:spPr>
          <a:xfrm>
            <a:off x="841248" y="3136392"/>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17" name="Text 15"/>
          <p:cNvSpPr/>
          <p:nvPr/>
        </p:nvSpPr>
        <p:spPr>
          <a:xfrm>
            <a:off x="1572768" y="3044952"/>
            <a:ext cx="4297680" cy="228600"/>
          </a:xfrm>
          <a:prstGeom prst="rect">
            <a:avLst/>
          </a:prstGeom>
          <a:noFill/>
          <a:ln/>
        </p:spPr>
        <p:txBody>
          <a:bodyPr wrap="square" lIns="0" tIns="0" rIns="0" bIns="0" rtlCol="0" anchor="ctr"/>
          <a:lstStyle/>
          <a:p>
            <a:pPr indent="0" marL="0">
              <a:buNone/>
            </a:pPr>
            <a:r>
              <a:rPr lang="en-US" sz="1900" b="1" dirty="0">
                <a:solidFill>
                  <a:srgbClr val="0F172A"/>
                </a:solidFill>
              </a:rPr>
              <a:t>Thiết kế hệ thống</a:t>
            </a:r>
            <a:endParaRPr lang="en-US" sz="1900" dirty="0"/>
          </a:p>
        </p:txBody>
      </p:sp>
      <p:sp>
        <p:nvSpPr>
          <p:cNvPr id="18" name="Text 16"/>
          <p:cNvSpPr/>
          <p:nvPr/>
        </p:nvSpPr>
        <p:spPr>
          <a:xfrm>
            <a:off x="5961888" y="3063240"/>
            <a:ext cx="1097280" cy="201168"/>
          </a:xfrm>
          <a:prstGeom prst="rect">
            <a:avLst/>
          </a:prstGeom>
          <a:noFill/>
          <a:ln/>
        </p:spPr>
        <p:txBody>
          <a:bodyPr wrap="square" lIns="0" tIns="0" rIns="0" bIns="0" rtlCol="0" anchor="ctr"/>
          <a:lstStyle/>
          <a:p>
            <a:pPr algn="r" indent="0" marL="0">
              <a:buNone/>
            </a:pPr>
            <a:r>
              <a:rPr lang="en-US" sz="1200" b="1" dirty="0">
                <a:solidFill>
                  <a:srgbClr val="F97316"/>
                </a:solidFill>
              </a:rPr>
              <a:t>7 phút</a:t>
            </a:r>
            <a:endParaRPr lang="en-US" sz="1200" dirty="0"/>
          </a:p>
        </p:txBody>
      </p:sp>
      <p:sp>
        <p:nvSpPr>
          <p:cNvPr id="19" name="Shape 17"/>
          <p:cNvSpPr/>
          <p:nvPr/>
        </p:nvSpPr>
        <p:spPr>
          <a:xfrm>
            <a:off x="1088136" y="3493008"/>
            <a:ext cx="0" cy="283464"/>
          </a:xfrm>
          <a:prstGeom prst="line">
            <a:avLst/>
          </a:prstGeom>
          <a:noFill/>
          <a:ln w="17780">
            <a:solidFill>
              <a:srgbClr val="D8E4F7"/>
            </a:solidFill>
            <a:prstDash val="solid"/>
          </a:ln>
        </p:spPr>
      </p:sp>
      <p:sp>
        <p:nvSpPr>
          <p:cNvPr id="20" name="Shape 18"/>
          <p:cNvSpPr/>
          <p:nvPr/>
        </p:nvSpPr>
        <p:spPr>
          <a:xfrm>
            <a:off x="841248" y="3776472"/>
            <a:ext cx="502920" cy="502920"/>
          </a:xfrm>
          <a:prstGeom prst="ellipse">
            <a:avLst/>
          </a:prstGeom>
          <a:solidFill>
            <a:srgbClr val="10B981"/>
          </a:solidFill>
          <a:ln w="12700">
            <a:solidFill>
              <a:srgbClr val="10B981">
                <a:alpha val="0"/>
              </a:srgbClr>
            </a:solidFill>
            <a:prstDash val="solid"/>
          </a:ln>
        </p:spPr>
      </p:sp>
      <p:sp>
        <p:nvSpPr>
          <p:cNvPr id="21" name="Text 19"/>
          <p:cNvSpPr/>
          <p:nvPr/>
        </p:nvSpPr>
        <p:spPr>
          <a:xfrm>
            <a:off x="841248" y="3922776"/>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04</a:t>
            </a:r>
            <a:endParaRPr lang="en-US" sz="850" dirty="0"/>
          </a:p>
        </p:txBody>
      </p:sp>
      <p:sp>
        <p:nvSpPr>
          <p:cNvPr id="22" name="Text 20"/>
          <p:cNvSpPr/>
          <p:nvPr/>
        </p:nvSpPr>
        <p:spPr>
          <a:xfrm>
            <a:off x="1572768" y="3831336"/>
            <a:ext cx="4297680" cy="228600"/>
          </a:xfrm>
          <a:prstGeom prst="rect">
            <a:avLst/>
          </a:prstGeom>
          <a:noFill/>
          <a:ln/>
        </p:spPr>
        <p:txBody>
          <a:bodyPr wrap="square" lIns="0" tIns="0" rIns="0" bIns="0" rtlCol="0" anchor="ctr"/>
          <a:lstStyle/>
          <a:p>
            <a:pPr indent="0" marL="0">
              <a:buNone/>
            </a:pPr>
            <a:r>
              <a:rPr lang="en-US" sz="1900" b="1" dirty="0">
                <a:solidFill>
                  <a:srgbClr val="0F172A"/>
                </a:solidFill>
              </a:rPr>
              <a:t>Triển khai, demo, kiểm thử</a:t>
            </a:r>
            <a:endParaRPr lang="en-US" sz="1900" dirty="0"/>
          </a:p>
        </p:txBody>
      </p:sp>
      <p:sp>
        <p:nvSpPr>
          <p:cNvPr id="23" name="Text 21"/>
          <p:cNvSpPr/>
          <p:nvPr/>
        </p:nvSpPr>
        <p:spPr>
          <a:xfrm>
            <a:off x="5961888" y="3849624"/>
            <a:ext cx="1097280" cy="201168"/>
          </a:xfrm>
          <a:prstGeom prst="rect">
            <a:avLst/>
          </a:prstGeom>
          <a:noFill/>
          <a:ln/>
        </p:spPr>
        <p:txBody>
          <a:bodyPr wrap="square" lIns="0" tIns="0" rIns="0" bIns="0" rtlCol="0" anchor="ctr"/>
          <a:lstStyle/>
          <a:p>
            <a:pPr algn="r" indent="0" marL="0">
              <a:buNone/>
            </a:pPr>
            <a:r>
              <a:rPr lang="en-US" sz="1200" b="1" dirty="0">
                <a:solidFill>
                  <a:srgbClr val="10B981"/>
                </a:solidFill>
              </a:rPr>
              <a:t>7 phút</a:t>
            </a:r>
            <a:endParaRPr lang="en-US" sz="1200" dirty="0"/>
          </a:p>
        </p:txBody>
      </p:sp>
      <p:sp>
        <p:nvSpPr>
          <p:cNvPr id="24" name="Shape 22"/>
          <p:cNvSpPr/>
          <p:nvPr/>
        </p:nvSpPr>
        <p:spPr>
          <a:xfrm>
            <a:off x="1088136" y="4279392"/>
            <a:ext cx="0" cy="283464"/>
          </a:xfrm>
          <a:prstGeom prst="line">
            <a:avLst/>
          </a:prstGeom>
          <a:noFill/>
          <a:ln w="17780">
            <a:solidFill>
              <a:srgbClr val="D8E4F7"/>
            </a:solidFill>
            <a:prstDash val="solid"/>
          </a:ln>
        </p:spPr>
      </p:sp>
      <p:sp>
        <p:nvSpPr>
          <p:cNvPr id="25" name="Shape 23"/>
          <p:cNvSpPr/>
          <p:nvPr/>
        </p:nvSpPr>
        <p:spPr>
          <a:xfrm>
            <a:off x="841248" y="4562856"/>
            <a:ext cx="502920" cy="502920"/>
          </a:xfrm>
          <a:prstGeom prst="ellipse">
            <a:avLst/>
          </a:prstGeom>
          <a:solidFill>
            <a:srgbClr val="EF4444"/>
          </a:solidFill>
          <a:ln w="12700">
            <a:solidFill>
              <a:srgbClr val="EF4444">
                <a:alpha val="0"/>
              </a:srgbClr>
            </a:solidFill>
            <a:prstDash val="solid"/>
          </a:ln>
        </p:spPr>
      </p:sp>
      <p:sp>
        <p:nvSpPr>
          <p:cNvPr id="26" name="Text 24"/>
          <p:cNvSpPr/>
          <p:nvPr/>
        </p:nvSpPr>
        <p:spPr>
          <a:xfrm>
            <a:off x="841248" y="4709160"/>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05</a:t>
            </a:r>
            <a:endParaRPr lang="en-US" sz="850" dirty="0"/>
          </a:p>
        </p:txBody>
      </p:sp>
      <p:sp>
        <p:nvSpPr>
          <p:cNvPr id="27" name="Text 25"/>
          <p:cNvSpPr/>
          <p:nvPr/>
        </p:nvSpPr>
        <p:spPr>
          <a:xfrm>
            <a:off x="1572768" y="4617720"/>
            <a:ext cx="4297680" cy="228600"/>
          </a:xfrm>
          <a:prstGeom prst="rect">
            <a:avLst/>
          </a:prstGeom>
          <a:noFill/>
          <a:ln/>
        </p:spPr>
        <p:txBody>
          <a:bodyPr wrap="square" lIns="0" tIns="0" rIns="0" bIns="0" rtlCol="0" anchor="ctr"/>
          <a:lstStyle/>
          <a:p>
            <a:pPr indent="0" marL="0">
              <a:buNone/>
            </a:pPr>
            <a:r>
              <a:rPr lang="en-US" sz="1900" b="1" dirty="0">
                <a:solidFill>
                  <a:srgbClr val="0F172A"/>
                </a:solidFill>
              </a:rPr>
              <a:t>RBL, hạn chế, kết luận</a:t>
            </a:r>
            <a:endParaRPr lang="en-US" sz="1900" dirty="0"/>
          </a:p>
        </p:txBody>
      </p:sp>
      <p:sp>
        <p:nvSpPr>
          <p:cNvPr id="28" name="Text 26"/>
          <p:cNvSpPr/>
          <p:nvPr/>
        </p:nvSpPr>
        <p:spPr>
          <a:xfrm>
            <a:off x="5961888" y="4636008"/>
            <a:ext cx="1097280" cy="201168"/>
          </a:xfrm>
          <a:prstGeom prst="rect">
            <a:avLst/>
          </a:prstGeom>
          <a:noFill/>
          <a:ln/>
        </p:spPr>
        <p:txBody>
          <a:bodyPr wrap="square" lIns="0" tIns="0" rIns="0" bIns="0" rtlCol="0" anchor="ctr"/>
          <a:lstStyle/>
          <a:p>
            <a:pPr algn="r" indent="0" marL="0">
              <a:buNone/>
            </a:pPr>
            <a:r>
              <a:rPr lang="en-US" sz="1200" b="1" dirty="0">
                <a:solidFill>
                  <a:srgbClr val="EF4444"/>
                </a:solidFill>
              </a:rPr>
              <a:t>4 phút</a:t>
            </a:r>
            <a:endParaRPr lang="en-US" sz="1200" dirty="0"/>
          </a:p>
        </p:txBody>
      </p:sp>
      <p:sp>
        <p:nvSpPr>
          <p:cNvPr id="29" name="Shape 27"/>
          <p:cNvSpPr/>
          <p:nvPr/>
        </p:nvSpPr>
        <p:spPr>
          <a:xfrm>
            <a:off x="7452360" y="1234440"/>
            <a:ext cx="3931920" cy="4160520"/>
          </a:xfrm>
          <a:prstGeom prst="roundRect">
            <a:avLst>
              <a:gd name="adj" fmla="val 3721"/>
            </a:avLst>
          </a:prstGeom>
          <a:solidFill>
            <a:srgbClr val="FFFFFF"/>
          </a:solidFill>
          <a:ln w="12700">
            <a:solidFill>
              <a:srgbClr val="D8E4F7"/>
            </a:solidFill>
            <a:prstDash val="solid"/>
          </a:ln>
        </p:spPr>
      </p:sp>
      <p:sp>
        <p:nvSpPr>
          <p:cNvPr id="30" name="Text 28"/>
          <p:cNvSpPr/>
          <p:nvPr/>
        </p:nvSpPr>
        <p:spPr>
          <a:xfrm>
            <a:off x="7726680" y="1627632"/>
            <a:ext cx="3200400" cy="292608"/>
          </a:xfrm>
          <a:prstGeom prst="rect">
            <a:avLst/>
          </a:prstGeom>
          <a:noFill/>
          <a:ln/>
        </p:spPr>
        <p:txBody>
          <a:bodyPr wrap="square" lIns="0" tIns="0" rIns="0" bIns="0" rtlCol="0" anchor="ctr"/>
          <a:lstStyle/>
          <a:p>
            <a:pPr indent="0" marL="0">
              <a:buNone/>
            </a:pPr>
            <a:r>
              <a:rPr lang="en-US" sz="2000" b="1" dirty="0">
                <a:solidFill>
                  <a:srgbClr val="0F172A"/>
                </a:solidFill>
              </a:rPr>
              <a:t>Thông điệp xuyên suốt</a:t>
            </a:r>
            <a:endParaRPr lang="en-US" sz="2000" dirty="0"/>
          </a:p>
        </p:txBody>
      </p:sp>
      <p:sp>
        <p:nvSpPr>
          <p:cNvPr id="31" name="Text 29"/>
          <p:cNvSpPr/>
          <p:nvPr/>
        </p:nvSpPr>
        <p:spPr>
          <a:xfrm>
            <a:off x="7726680" y="2130552"/>
            <a:ext cx="3246120" cy="1298448"/>
          </a:xfrm>
          <a:prstGeom prst="rect">
            <a:avLst/>
          </a:prstGeom>
          <a:noFill/>
          <a:ln/>
        </p:spPr>
        <p:txBody>
          <a:bodyPr wrap="square" lIns="254" tIns="254" rIns="254" bIns="254" rtlCol="0" anchor="ctr">
            <a:normAutofit/>
          </a:bodyPr>
          <a:lstStyle/>
          <a:p>
            <a:pPr indent="0" marL="0">
              <a:buNone/>
            </a:pPr>
            <a:r>
              <a:rPr lang="en-US" sz="1520" dirty="0">
                <a:solidFill>
                  <a:srgbClr val="64748B"/>
                </a:solidFill>
              </a:rPr>
              <a:t>Hệ thống không chỉ là CRUD. Điểm nổi bật là số hóa toàn bộ vòng đời tổ chức cuộc thi, tự động hóa chấm/xếp hạng và lưu dữ liệu phục vụ nghiên cứu độ tin cậy liên đánh giá viên.</a:t>
            </a:r>
            <a:endParaRPr lang="en-US" sz="1520" dirty="0"/>
          </a:p>
        </p:txBody>
      </p:sp>
      <p:sp>
        <p:nvSpPr>
          <p:cNvPr id="32" name="Shape 30"/>
          <p:cNvSpPr/>
          <p:nvPr/>
        </p:nvSpPr>
        <p:spPr>
          <a:xfrm>
            <a:off x="7726680" y="3913632"/>
            <a:ext cx="2286000" cy="320040"/>
          </a:xfrm>
          <a:prstGeom prst="roundRect">
            <a:avLst>
              <a:gd name="adj" fmla="val 22857"/>
            </a:avLst>
          </a:prstGeom>
          <a:solidFill>
            <a:srgbClr val="EAF2FF"/>
          </a:solidFill>
          <a:ln w="12700">
            <a:solidFill>
              <a:srgbClr val="EAF2FF">
                <a:alpha val="0"/>
              </a:srgbClr>
            </a:solidFill>
            <a:prstDash val="solid"/>
          </a:ln>
        </p:spPr>
      </p:sp>
      <p:sp>
        <p:nvSpPr>
          <p:cNvPr id="33" name="Text 31"/>
          <p:cNvSpPr/>
          <p:nvPr/>
        </p:nvSpPr>
        <p:spPr>
          <a:xfrm>
            <a:off x="7799832" y="3986784"/>
            <a:ext cx="2139696" cy="146304"/>
          </a:xfrm>
          <a:prstGeom prst="rect">
            <a:avLst/>
          </a:prstGeom>
          <a:noFill/>
          <a:ln/>
        </p:spPr>
        <p:txBody>
          <a:bodyPr wrap="square" lIns="0" tIns="0" rIns="0" bIns="0" rtlCol="0" anchor="ctr"/>
          <a:lstStyle/>
          <a:p>
            <a:pPr algn="ctr" indent="0" marL="0">
              <a:buNone/>
            </a:pPr>
            <a:r>
              <a:rPr lang="en-US" sz="750" b="1" dirty="0">
                <a:solidFill>
                  <a:srgbClr val="0B4FD8"/>
                </a:solidFill>
              </a:rPr>
              <a:t>Demo nên dành 5–7 phút</a:t>
            </a:r>
            <a:endParaRPr lang="en-US" sz="750" dirty="0"/>
          </a:p>
        </p:txBody>
      </p:sp>
      <p:sp>
        <p:nvSpPr>
          <p:cNvPr id="34" name="Text 32"/>
          <p:cNvSpPr/>
          <p:nvPr/>
        </p:nvSpPr>
        <p:spPr>
          <a:xfrm>
            <a:off x="7726680" y="4434840"/>
            <a:ext cx="3246120" cy="594360"/>
          </a:xfrm>
          <a:prstGeom prst="rect">
            <a:avLst/>
          </a:prstGeom>
          <a:noFill/>
          <a:ln/>
        </p:spPr>
        <p:txBody>
          <a:bodyPr wrap="square" lIns="0" tIns="0" rIns="0" bIns="0" rtlCol="0" anchor="ctr">
            <a:normAutofit/>
          </a:bodyPr>
          <a:lstStyle/>
          <a:p>
            <a:pPr indent="0" marL="0">
              <a:buNone/>
            </a:pPr>
            <a:r>
              <a:rPr lang="en-US" sz="1280" dirty="0">
                <a:solidFill>
                  <a:srgbClr val="64748B"/>
                </a:solidFill>
              </a:rPr>
              <a:t>Tập trung vào: đăng nhập → tạo sự kiện/vòng → phân công judge → chấm điểm → ranking → RBL.</a:t>
            </a:r>
            <a:endParaRPr lang="en-US" sz="1280" dirty="0"/>
          </a:p>
        </p:txBody>
      </p:sp>
      <p:sp>
        <p:nvSpPr>
          <p:cNvPr id="35" name="Shape 33"/>
          <p:cNvSpPr/>
          <p:nvPr/>
        </p:nvSpPr>
        <p:spPr>
          <a:xfrm>
            <a:off x="594360" y="6473952"/>
            <a:ext cx="11018520" cy="0"/>
          </a:xfrm>
          <a:prstGeom prst="line">
            <a:avLst/>
          </a:prstGeom>
          <a:noFill/>
          <a:ln w="10160">
            <a:solidFill>
              <a:srgbClr val="D8E4F7"/>
            </a:solidFill>
            <a:prstDash val="solid"/>
          </a:ln>
        </p:spPr>
      </p:sp>
      <p:sp>
        <p:nvSpPr>
          <p:cNvPr id="36" name="Text 34"/>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7" name="Text 35"/>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01 · TỔNG QUAN</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Bối cảnh &amp; lý do chọn đề tài</a:t>
            </a:r>
            <a:endParaRPr lang="en-US" sz="2700" dirty="0"/>
          </a:p>
        </p:txBody>
      </p:sp>
      <p:sp>
        <p:nvSpPr>
          <p:cNvPr id="5" name="Text 3"/>
          <p:cNvSpPr/>
          <p:nvPr/>
        </p:nvSpPr>
        <p:spPr>
          <a:xfrm>
            <a:off x="685800" y="1143000"/>
            <a:ext cx="10789920" cy="566928"/>
          </a:xfrm>
          <a:prstGeom prst="rect">
            <a:avLst/>
          </a:prstGeom>
          <a:noFill/>
          <a:ln/>
        </p:spPr>
        <p:txBody>
          <a:bodyPr wrap="square" lIns="0" tIns="0" rIns="0" bIns="0" rtlCol="0" anchor="ctr">
            <a:normAutofit/>
          </a:bodyPr>
          <a:lstStyle/>
          <a:p>
            <a:pPr indent="0" marL="0">
              <a:buNone/>
            </a:pPr>
            <a:r>
              <a:rPr lang="en-US" sz="1700" dirty="0">
                <a:solidFill>
                  <a:srgbClr val="64748B"/>
                </a:solidFill>
              </a:rPr>
              <a:t>SEAL là cuộc thi hackathon học thuật theo mùa, có nhiều vòng, nhiều hạng mục và nhiều nhóm người tham gia. Quy trình thủ công bằng Excel/email dễ tạo ra nút thắt khi số đội và số giám khảo tăng lên.</a:t>
            </a:r>
            <a:endParaRPr lang="en-US" sz="1700" dirty="0"/>
          </a:p>
        </p:txBody>
      </p:sp>
      <p:sp>
        <p:nvSpPr>
          <p:cNvPr id="6" name="Shape 4"/>
          <p:cNvSpPr/>
          <p:nvPr/>
        </p:nvSpPr>
        <p:spPr>
          <a:xfrm>
            <a:off x="731520" y="1993392"/>
            <a:ext cx="2788920" cy="932688"/>
          </a:xfrm>
          <a:prstGeom prst="roundRect">
            <a:avLst>
              <a:gd name="adj" fmla="val 11765"/>
            </a:avLst>
          </a:prstGeom>
          <a:solidFill>
            <a:srgbClr val="FFFFFF"/>
          </a:solidFill>
          <a:ln w="12700">
            <a:solidFill>
              <a:srgbClr val="D8E4F7"/>
            </a:solidFill>
            <a:prstDash val="solid"/>
          </a:ln>
        </p:spPr>
      </p:sp>
      <p:sp>
        <p:nvSpPr>
          <p:cNvPr id="7" name="Shape 5"/>
          <p:cNvSpPr/>
          <p:nvPr/>
        </p:nvSpPr>
        <p:spPr>
          <a:xfrm>
            <a:off x="731520" y="1993392"/>
            <a:ext cx="73152" cy="932688"/>
          </a:xfrm>
          <a:prstGeom prst="rect">
            <a:avLst/>
          </a:prstGeom>
          <a:solidFill>
            <a:srgbClr val="EF4444"/>
          </a:solidFill>
          <a:ln w="12700">
            <a:solidFill>
              <a:srgbClr val="EF4444">
                <a:alpha val="0"/>
              </a:srgbClr>
            </a:solidFill>
            <a:prstDash val="solid"/>
          </a:ln>
        </p:spPr>
      </p:sp>
      <p:sp>
        <p:nvSpPr>
          <p:cNvPr id="8" name="Text 6"/>
          <p:cNvSpPr/>
          <p:nvPr/>
        </p:nvSpPr>
        <p:spPr>
          <a:xfrm>
            <a:off x="960120" y="2194560"/>
            <a:ext cx="2423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Sai sót dữ liệu</a:t>
            </a:r>
            <a:endParaRPr lang="en-US" sz="1200" dirty="0"/>
          </a:p>
        </p:txBody>
      </p:sp>
      <p:sp>
        <p:nvSpPr>
          <p:cNvPr id="9" name="Text 7"/>
          <p:cNvSpPr/>
          <p:nvPr/>
        </p:nvSpPr>
        <p:spPr>
          <a:xfrm>
            <a:off x="960120" y="2560320"/>
            <a:ext cx="2441448" cy="219456"/>
          </a:xfrm>
          <a:prstGeom prst="rect">
            <a:avLst/>
          </a:prstGeom>
          <a:noFill/>
          <a:ln/>
        </p:spPr>
        <p:txBody>
          <a:bodyPr wrap="square" lIns="0" tIns="0" rIns="0" bIns="0" rtlCol="0" anchor="ctr">
            <a:normAutofit/>
          </a:bodyPr>
          <a:lstStyle/>
          <a:p>
            <a:pPr indent="0" marL="0">
              <a:buNone/>
            </a:pPr>
            <a:r>
              <a:rPr lang="en-US" sz="1050" dirty="0">
                <a:solidFill>
                  <a:srgbClr val="64748B"/>
                </a:solidFill>
              </a:rPr>
              <a:t>Nhiều file Excel rời rạc, khó đồng bộ trạng thái đội/bài nộp.</a:t>
            </a:r>
            <a:endParaRPr lang="en-US" sz="1050" dirty="0"/>
          </a:p>
        </p:txBody>
      </p:sp>
      <p:sp>
        <p:nvSpPr>
          <p:cNvPr id="10" name="Shape 8"/>
          <p:cNvSpPr/>
          <p:nvPr/>
        </p:nvSpPr>
        <p:spPr>
          <a:xfrm>
            <a:off x="3794760" y="1993392"/>
            <a:ext cx="2788920" cy="932688"/>
          </a:xfrm>
          <a:prstGeom prst="roundRect">
            <a:avLst>
              <a:gd name="adj" fmla="val 11765"/>
            </a:avLst>
          </a:prstGeom>
          <a:solidFill>
            <a:srgbClr val="FFFFFF"/>
          </a:solidFill>
          <a:ln w="12700">
            <a:solidFill>
              <a:srgbClr val="D8E4F7"/>
            </a:solidFill>
            <a:prstDash val="solid"/>
          </a:ln>
        </p:spPr>
      </p:sp>
      <p:sp>
        <p:nvSpPr>
          <p:cNvPr id="11" name="Shape 9"/>
          <p:cNvSpPr/>
          <p:nvPr/>
        </p:nvSpPr>
        <p:spPr>
          <a:xfrm>
            <a:off x="3794760" y="1993392"/>
            <a:ext cx="73152" cy="932688"/>
          </a:xfrm>
          <a:prstGeom prst="rect">
            <a:avLst/>
          </a:prstGeom>
          <a:solidFill>
            <a:srgbClr val="F97316"/>
          </a:solidFill>
          <a:ln w="12700">
            <a:solidFill>
              <a:srgbClr val="F97316">
                <a:alpha val="0"/>
              </a:srgbClr>
            </a:solidFill>
            <a:prstDash val="solid"/>
          </a:ln>
        </p:spPr>
      </p:sp>
      <p:sp>
        <p:nvSpPr>
          <p:cNvPr id="12" name="Text 10"/>
          <p:cNvSpPr/>
          <p:nvPr/>
        </p:nvSpPr>
        <p:spPr>
          <a:xfrm>
            <a:off x="4023360" y="2194560"/>
            <a:ext cx="2423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Tổng hợp điểm chậm</a:t>
            </a:r>
            <a:endParaRPr lang="en-US" sz="1200" dirty="0"/>
          </a:p>
        </p:txBody>
      </p:sp>
      <p:sp>
        <p:nvSpPr>
          <p:cNvPr id="13" name="Text 11"/>
          <p:cNvSpPr/>
          <p:nvPr/>
        </p:nvSpPr>
        <p:spPr>
          <a:xfrm>
            <a:off x="4023360" y="2560320"/>
            <a:ext cx="2441448" cy="219456"/>
          </a:xfrm>
          <a:prstGeom prst="rect">
            <a:avLst/>
          </a:prstGeom>
          <a:noFill/>
          <a:ln/>
        </p:spPr>
        <p:txBody>
          <a:bodyPr wrap="square" lIns="0" tIns="0" rIns="0" bIns="0" rtlCol="0" anchor="ctr">
            <a:normAutofit/>
          </a:bodyPr>
          <a:lstStyle/>
          <a:p>
            <a:pPr indent="0" marL="0">
              <a:buNone/>
            </a:pPr>
            <a:r>
              <a:rPr lang="en-US" sz="1050" dirty="0">
                <a:solidFill>
                  <a:srgbClr val="64748B"/>
                </a:solidFill>
              </a:rPr>
              <a:t>Giám khảo chấm rời, BTC phải gom và tính ranking thủ công.</a:t>
            </a:r>
            <a:endParaRPr lang="en-US" sz="1050" dirty="0"/>
          </a:p>
        </p:txBody>
      </p:sp>
      <p:sp>
        <p:nvSpPr>
          <p:cNvPr id="14" name="Shape 12"/>
          <p:cNvSpPr/>
          <p:nvPr/>
        </p:nvSpPr>
        <p:spPr>
          <a:xfrm>
            <a:off x="731520" y="3227832"/>
            <a:ext cx="2788920" cy="932688"/>
          </a:xfrm>
          <a:prstGeom prst="roundRect">
            <a:avLst>
              <a:gd name="adj" fmla="val 11765"/>
            </a:avLst>
          </a:prstGeom>
          <a:solidFill>
            <a:srgbClr val="FFFFFF"/>
          </a:solidFill>
          <a:ln w="12700">
            <a:solidFill>
              <a:srgbClr val="D8E4F7"/>
            </a:solidFill>
            <a:prstDash val="solid"/>
          </a:ln>
        </p:spPr>
      </p:sp>
      <p:sp>
        <p:nvSpPr>
          <p:cNvPr id="15" name="Shape 13"/>
          <p:cNvSpPr/>
          <p:nvPr/>
        </p:nvSpPr>
        <p:spPr>
          <a:xfrm>
            <a:off x="731520" y="3227832"/>
            <a:ext cx="73152" cy="932688"/>
          </a:xfrm>
          <a:prstGeom prst="rect">
            <a:avLst/>
          </a:prstGeom>
          <a:solidFill>
            <a:srgbClr val="0B4FD8"/>
          </a:solidFill>
          <a:ln w="12700">
            <a:solidFill>
              <a:srgbClr val="0B4FD8">
                <a:alpha val="0"/>
              </a:srgbClr>
            </a:solidFill>
            <a:prstDash val="solid"/>
          </a:ln>
        </p:spPr>
      </p:sp>
      <p:sp>
        <p:nvSpPr>
          <p:cNvPr id="16" name="Text 14"/>
          <p:cNvSpPr/>
          <p:nvPr/>
        </p:nvSpPr>
        <p:spPr>
          <a:xfrm>
            <a:off x="960120" y="3429000"/>
            <a:ext cx="2423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Thiếu minh bạch</a:t>
            </a:r>
            <a:endParaRPr lang="en-US" sz="1200" dirty="0"/>
          </a:p>
        </p:txBody>
      </p:sp>
      <p:sp>
        <p:nvSpPr>
          <p:cNvPr id="17" name="Text 15"/>
          <p:cNvSpPr/>
          <p:nvPr/>
        </p:nvSpPr>
        <p:spPr>
          <a:xfrm>
            <a:off x="960120" y="3794760"/>
            <a:ext cx="2441448" cy="219456"/>
          </a:xfrm>
          <a:prstGeom prst="rect">
            <a:avLst/>
          </a:prstGeom>
          <a:noFill/>
          <a:ln/>
        </p:spPr>
        <p:txBody>
          <a:bodyPr wrap="square" lIns="0" tIns="0" rIns="0" bIns="0" rtlCol="0" anchor="ctr">
            <a:normAutofit/>
          </a:bodyPr>
          <a:lstStyle/>
          <a:p>
            <a:pPr indent="0" marL="0">
              <a:buNone/>
            </a:pPr>
            <a:r>
              <a:rPr lang="en-US" sz="1050" dirty="0">
                <a:solidFill>
                  <a:srgbClr val="64748B"/>
                </a:solidFill>
              </a:rPr>
              <a:t>Duyệt tài khoản, loại bài, chỉnh điểm chưa có audit log đầy đủ.</a:t>
            </a:r>
            <a:endParaRPr lang="en-US" sz="1050" dirty="0"/>
          </a:p>
        </p:txBody>
      </p:sp>
      <p:sp>
        <p:nvSpPr>
          <p:cNvPr id="18" name="Shape 16"/>
          <p:cNvSpPr/>
          <p:nvPr/>
        </p:nvSpPr>
        <p:spPr>
          <a:xfrm>
            <a:off x="3794760" y="3227832"/>
            <a:ext cx="2788920" cy="932688"/>
          </a:xfrm>
          <a:prstGeom prst="roundRect">
            <a:avLst>
              <a:gd name="adj" fmla="val 11765"/>
            </a:avLst>
          </a:prstGeom>
          <a:solidFill>
            <a:srgbClr val="FFFFFF"/>
          </a:solidFill>
          <a:ln w="12700">
            <a:solidFill>
              <a:srgbClr val="D8E4F7"/>
            </a:solidFill>
            <a:prstDash val="solid"/>
          </a:ln>
        </p:spPr>
      </p:sp>
      <p:sp>
        <p:nvSpPr>
          <p:cNvPr id="19" name="Shape 17"/>
          <p:cNvSpPr/>
          <p:nvPr/>
        </p:nvSpPr>
        <p:spPr>
          <a:xfrm>
            <a:off x="3794760" y="3227832"/>
            <a:ext cx="73152" cy="932688"/>
          </a:xfrm>
          <a:prstGeom prst="rect">
            <a:avLst/>
          </a:prstGeom>
          <a:solidFill>
            <a:srgbClr val="14B8A6"/>
          </a:solidFill>
          <a:ln w="12700">
            <a:solidFill>
              <a:srgbClr val="14B8A6">
                <a:alpha val="0"/>
              </a:srgbClr>
            </a:solidFill>
            <a:prstDash val="solid"/>
          </a:ln>
        </p:spPr>
      </p:sp>
      <p:sp>
        <p:nvSpPr>
          <p:cNvPr id="20" name="Text 18"/>
          <p:cNvSpPr/>
          <p:nvPr/>
        </p:nvSpPr>
        <p:spPr>
          <a:xfrm>
            <a:off x="4023360" y="3429000"/>
            <a:ext cx="2423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Khó nghiên cứu RBL</a:t>
            </a:r>
            <a:endParaRPr lang="en-US" sz="1200" dirty="0"/>
          </a:p>
        </p:txBody>
      </p:sp>
      <p:sp>
        <p:nvSpPr>
          <p:cNvPr id="21" name="Text 19"/>
          <p:cNvSpPr/>
          <p:nvPr/>
        </p:nvSpPr>
        <p:spPr>
          <a:xfrm>
            <a:off x="4023360" y="3794760"/>
            <a:ext cx="2441448" cy="219456"/>
          </a:xfrm>
          <a:prstGeom prst="rect">
            <a:avLst/>
          </a:prstGeom>
          <a:noFill/>
          <a:ln/>
        </p:spPr>
        <p:txBody>
          <a:bodyPr wrap="square" lIns="0" tIns="0" rIns="0" bIns="0" rtlCol="0" anchor="ctr">
            <a:normAutofit/>
          </a:bodyPr>
          <a:lstStyle/>
          <a:p>
            <a:pPr indent="0" marL="0">
              <a:buNone/>
            </a:pPr>
            <a:r>
              <a:rPr lang="en-US" sz="1050" dirty="0">
                <a:solidFill>
                  <a:srgbClr val="64748B"/>
                </a:solidFill>
              </a:rPr>
              <a:t>Nếu chỉ giữ điểm trung bình thì không phân tích được độ lệch giữa giám khảo.</a:t>
            </a:r>
            <a:endParaRPr lang="en-US" sz="1050" dirty="0"/>
          </a:p>
        </p:txBody>
      </p:sp>
      <p:sp>
        <p:nvSpPr>
          <p:cNvPr id="22" name="Shape 20"/>
          <p:cNvSpPr/>
          <p:nvPr/>
        </p:nvSpPr>
        <p:spPr>
          <a:xfrm>
            <a:off x="6995160" y="1828800"/>
            <a:ext cx="4389120" cy="2697480"/>
          </a:xfrm>
          <a:prstGeom prst="roundRect">
            <a:avLst>
              <a:gd name="adj" fmla="val 6102"/>
            </a:avLst>
          </a:prstGeom>
          <a:solidFill>
            <a:srgbClr val="FFFFFF"/>
          </a:solidFill>
          <a:ln w="12700">
            <a:solidFill>
              <a:srgbClr val="D8E4F7"/>
            </a:solidFill>
            <a:prstDash val="solid"/>
          </a:ln>
        </p:spPr>
      </p:sp>
      <p:sp>
        <p:nvSpPr>
          <p:cNvPr id="23" name="Text 21"/>
          <p:cNvSpPr/>
          <p:nvPr/>
        </p:nvSpPr>
        <p:spPr>
          <a:xfrm>
            <a:off x="7315200" y="2148840"/>
            <a:ext cx="3108960" cy="292608"/>
          </a:xfrm>
          <a:prstGeom prst="rect">
            <a:avLst/>
          </a:prstGeom>
          <a:noFill/>
          <a:ln/>
        </p:spPr>
        <p:txBody>
          <a:bodyPr wrap="square" lIns="0" tIns="0" rIns="0" bIns="0" rtlCol="0" anchor="ctr"/>
          <a:lstStyle/>
          <a:p>
            <a:pPr indent="0" marL="0">
              <a:buNone/>
            </a:pPr>
            <a:r>
              <a:rPr lang="en-US" sz="2000" b="1" dirty="0">
                <a:solidFill>
                  <a:srgbClr val="0F172A"/>
                </a:solidFill>
              </a:rPr>
              <a:t>Từ thủ công → số hóa</a:t>
            </a:r>
            <a:endParaRPr lang="en-US" sz="2000" dirty="0"/>
          </a:p>
        </p:txBody>
      </p:sp>
      <p:sp>
        <p:nvSpPr>
          <p:cNvPr id="24" name="Shape 22"/>
          <p:cNvSpPr/>
          <p:nvPr/>
        </p:nvSpPr>
        <p:spPr>
          <a:xfrm>
            <a:off x="7315200" y="2834640"/>
            <a:ext cx="804672" cy="530352"/>
          </a:xfrm>
          <a:prstGeom prst="roundRect">
            <a:avLst>
              <a:gd name="adj" fmla="val 17241"/>
            </a:avLst>
          </a:prstGeom>
          <a:solidFill>
            <a:srgbClr val="F1F5F9"/>
          </a:solidFill>
          <a:ln w="12700">
            <a:solidFill>
              <a:srgbClr val="CBD5E1"/>
            </a:solidFill>
            <a:prstDash val="solid"/>
          </a:ln>
        </p:spPr>
      </p:sp>
      <p:sp>
        <p:nvSpPr>
          <p:cNvPr id="25" name="Text 23"/>
          <p:cNvSpPr/>
          <p:nvPr/>
        </p:nvSpPr>
        <p:spPr>
          <a:xfrm>
            <a:off x="7360920" y="2999232"/>
            <a:ext cx="713232" cy="109728"/>
          </a:xfrm>
          <a:prstGeom prst="rect">
            <a:avLst/>
          </a:prstGeom>
          <a:noFill/>
          <a:ln/>
        </p:spPr>
        <p:txBody>
          <a:bodyPr wrap="square" lIns="0" tIns="0" rIns="0" bIns="0" rtlCol="0" anchor="ctr">
            <a:normAutofit/>
          </a:bodyPr>
          <a:lstStyle/>
          <a:p>
            <a:pPr algn="ctr" indent="0" marL="0">
              <a:buNone/>
            </a:pPr>
            <a:r>
              <a:rPr lang="en-US" sz="740" b="1" dirty="0">
                <a:solidFill>
                  <a:srgbClr val="64748B"/>
                </a:solidFill>
              </a:rPr>
              <a:t>Excel</a:t>
            </a:r>
            <a:endParaRPr lang="en-US" sz="740" dirty="0"/>
          </a:p>
        </p:txBody>
      </p:sp>
      <p:sp>
        <p:nvSpPr>
          <p:cNvPr id="26" name="Shape 24"/>
          <p:cNvSpPr/>
          <p:nvPr/>
        </p:nvSpPr>
        <p:spPr>
          <a:xfrm>
            <a:off x="8156448" y="3099816"/>
            <a:ext cx="73152" cy="0"/>
          </a:xfrm>
          <a:prstGeom prst="line">
            <a:avLst/>
          </a:prstGeom>
          <a:noFill/>
          <a:ln w="27940">
            <a:solidFill>
              <a:srgbClr val="2563EB"/>
            </a:solidFill>
            <a:prstDash val="solid"/>
            <a:headEnd type="none"/>
            <a:tailEnd type="triangle"/>
          </a:ln>
        </p:spPr>
      </p:sp>
      <p:sp>
        <p:nvSpPr>
          <p:cNvPr id="27" name="Shape 25"/>
          <p:cNvSpPr/>
          <p:nvPr/>
        </p:nvSpPr>
        <p:spPr>
          <a:xfrm>
            <a:off x="8275320" y="2834640"/>
            <a:ext cx="804672" cy="530352"/>
          </a:xfrm>
          <a:prstGeom prst="roundRect">
            <a:avLst>
              <a:gd name="adj" fmla="val 17241"/>
            </a:avLst>
          </a:prstGeom>
          <a:solidFill>
            <a:srgbClr val="F1F5F9"/>
          </a:solidFill>
          <a:ln w="12700">
            <a:solidFill>
              <a:srgbClr val="CBD5E1"/>
            </a:solidFill>
            <a:prstDash val="solid"/>
          </a:ln>
        </p:spPr>
      </p:sp>
      <p:sp>
        <p:nvSpPr>
          <p:cNvPr id="28" name="Text 26"/>
          <p:cNvSpPr/>
          <p:nvPr/>
        </p:nvSpPr>
        <p:spPr>
          <a:xfrm>
            <a:off x="8321040" y="2999232"/>
            <a:ext cx="713232" cy="109728"/>
          </a:xfrm>
          <a:prstGeom prst="rect">
            <a:avLst/>
          </a:prstGeom>
          <a:noFill/>
          <a:ln/>
        </p:spPr>
        <p:txBody>
          <a:bodyPr wrap="square" lIns="0" tIns="0" rIns="0" bIns="0" rtlCol="0" anchor="ctr">
            <a:normAutofit/>
          </a:bodyPr>
          <a:lstStyle/>
          <a:p>
            <a:pPr algn="ctr" indent="0" marL="0">
              <a:buNone/>
            </a:pPr>
            <a:r>
              <a:rPr lang="en-US" sz="740" b="1" dirty="0">
                <a:solidFill>
                  <a:srgbClr val="F97316"/>
                </a:solidFill>
              </a:rPr>
              <a:t>Email</a:t>
            </a:r>
            <a:endParaRPr lang="en-US" sz="740" dirty="0"/>
          </a:p>
        </p:txBody>
      </p:sp>
      <p:sp>
        <p:nvSpPr>
          <p:cNvPr id="29" name="Shape 27"/>
          <p:cNvSpPr/>
          <p:nvPr/>
        </p:nvSpPr>
        <p:spPr>
          <a:xfrm>
            <a:off x="9116568" y="3099816"/>
            <a:ext cx="73152" cy="0"/>
          </a:xfrm>
          <a:prstGeom prst="line">
            <a:avLst/>
          </a:prstGeom>
          <a:noFill/>
          <a:ln w="27940">
            <a:solidFill>
              <a:srgbClr val="2563EB"/>
            </a:solidFill>
            <a:prstDash val="solid"/>
            <a:headEnd type="none"/>
            <a:tailEnd type="triangle"/>
          </a:ln>
        </p:spPr>
      </p:sp>
      <p:sp>
        <p:nvSpPr>
          <p:cNvPr id="30" name="Shape 28"/>
          <p:cNvSpPr/>
          <p:nvPr/>
        </p:nvSpPr>
        <p:spPr>
          <a:xfrm>
            <a:off x="9235440" y="2834640"/>
            <a:ext cx="804672" cy="530352"/>
          </a:xfrm>
          <a:prstGeom prst="roundRect">
            <a:avLst>
              <a:gd name="adj" fmla="val 17241"/>
            </a:avLst>
          </a:prstGeom>
          <a:solidFill>
            <a:srgbClr val="EAF2FF"/>
          </a:solidFill>
          <a:ln w="12700">
            <a:solidFill>
              <a:srgbClr val="EAF2FF"/>
            </a:solidFill>
            <a:prstDash val="solid"/>
          </a:ln>
        </p:spPr>
      </p:sp>
      <p:sp>
        <p:nvSpPr>
          <p:cNvPr id="31" name="Text 29"/>
          <p:cNvSpPr/>
          <p:nvPr/>
        </p:nvSpPr>
        <p:spPr>
          <a:xfrm>
            <a:off x="9281160" y="2999232"/>
            <a:ext cx="713232" cy="109728"/>
          </a:xfrm>
          <a:prstGeom prst="rect">
            <a:avLst/>
          </a:prstGeom>
          <a:noFill/>
          <a:ln/>
        </p:spPr>
        <p:txBody>
          <a:bodyPr wrap="square" lIns="0" tIns="0" rIns="0" bIns="0" rtlCol="0" anchor="ctr">
            <a:normAutofit/>
          </a:bodyPr>
          <a:lstStyle/>
          <a:p>
            <a:pPr algn="ctr" indent="0" marL="0">
              <a:buNone/>
            </a:pPr>
            <a:r>
              <a:rPr lang="en-US" sz="740" b="1" dirty="0">
                <a:solidFill>
                  <a:srgbClr val="0B4FD8"/>
                </a:solidFill>
              </a:rPr>
              <a:t>Dashboard</a:t>
            </a:r>
            <a:endParaRPr lang="en-US" sz="740" dirty="0"/>
          </a:p>
        </p:txBody>
      </p:sp>
      <p:sp>
        <p:nvSpPr>
          <p:cNvPr id="32" name="Shape 30"/>
          <p:cNvSpPr/>
          <p:nvPr/>
        </p:nvSpPr>
        <p:spPr>
          <a:xfrm>
            <a:off x="10076688" y="3099816"/>
            <a:ext cx="73152" cy="0"/>
          </a:xfrm>
          <a:prstGeom prst="line">
            <a:avLst/>
          </a:prstGeom>
          <a:noFill/>
          <a:ln w="27940">
            <a:solidFill>
              <a:srgbClr val="2563EB"/>
            </a:solidFill>
            <a:prstDash val="solid"/>
            <a:headEnd type="none"/>
            <a:tailEnd type="triangle"/>
          </a:ln>
        </p:spPr>
      </p:sp>
      <p:sp>
        <p:nvSpPr>
          <p:cNvPr id="33" name="Shape 31"/>
          <p:cNvSpPr/>
          <p:nvPr/>
        </p:nvSpPr>
        <p:spPr>
          <a:xfrm>
            <a:off x="10195560" y="2834640"/>
            <a:ext cx="804672" cy="530352"/>
          </a:xfrm>
          <a:prstGeom prst="roundRect">
            <a:avLst>
              <a:gd name="adj" fmla="val 17241"/>
            </a:avLst>
          </a:prstGeom>
          <a:solidFill>
            <a:srgbClr val="EAF2FF"/>
          </a:solidFill>
          <a:ln w="12700">
            <a:solidFill>
              <a:srgbClr val="EAF2FF"/>
            </a:solidFill>
            <a:prstDash val="solid"/>
          </a:ln>
        </p:spPr>
      </p:sp>
      <p:sp>
        <p:nvSpPr>
          <p:cNvPr id="34" name="Text 32"/>
          <p:cNvSpPr/>
          <p:nvPr/>
        </p:nvSpPr>
        <p:spPr>
          <a:xfrm>
            <a:off x="10241280" y="2999232"/>
            <a:ext cx="713232" cy="109728"/>
          </a:xfrm>
          <a:prstGeom prst="rect">
            <a:avLst/>
          </a:prstGeom>
          <a:noFill/>
          <a:ln/>
        </p:spPr>
        <p:txBody>
          <a:bodyPr wrap="square" lIns="0" tIns="0" rIns="0" bIns="0" rtlCol="0" anchor="ctr">
            <a:normAutofit/>
          </a:bodyPr>
          <a:lstStyle/>
          <a:p>
            <a:pPr algn="ctr" indent="0" marL="0">
              <a:buNone/>
            </a:pPr>
            <a:r>
              <a:rPr lang="en-US" sz="740" b="1" dirty="0">
                <a:solidFill>
                  <a:srgbClr val="14B8A6"/>
                </a:solidFill>
              </a:rPr>
              <a:t>Audit/RBL</a:t>
            </a:r>
            <a:endParaRPr lang="en-US" sz="740" dirty="0"/>
          </a:p>
        </p:txBody>
      </p:sp>
      <p:sp>
        <p:nvSpPr>
          <p:cNvPr id="35" name="Text 33"/>
          <p:cNvSpPr/>
          <p:nvPr/>
        </p:nvSpPr>
        <p:spPr>
          <a:xfrm>
            <a:off x="7315200" y="3840480"/>
            <a:ext cx="3520440" cy="347472"/>
          </a:xfrm>
          <a:prstGeom prst="rect">
            <a:avLst/>
          </a:prstGeom>
          <a:noFill/>
          <a:ln/>
        </p:spPr>
        <p:txBody>
          <a:bodyPr wrap="square" lIns="0" tIns="0" rIns="0" bIns="0" rtlCol="0" anchor="ctr">
            <a:normAutofit/>
          </a:bodyPr>
          <a:lstStyle/>
          <a:p>
            <a:pPr indent="0" marL="0">
              <a:buNone/>
            </a:pPr>
            <a:r>
              <a:rPr lang="en-US" sz="1220" dirty="0">
                <a:solidFill>
                  <a:srgbClr val="64748B"/>
                </a:solidFill>
              </a:rPr>
              <a:t>Đề tài xây dựng một web app quản lý tập trung toàn bộ vòng đời SEAL Hackathon.</a:t>
            </a:r>
            <a:endParaRPr lang="en-US" sz="1220" dirty="0"/>
          </a:p>
        </p:txBody>
      </p:sp>
      <p:sp>
        <p:nvSpPr>
          <p:cNvPr id="36" name="Shape 34"/>
          <p:cNvSpPr/>
          <p:nvPr/>
        </p:nvSpPr>
        <p:spPr>
          <a:xfrm>
            <a:off x="594360" y="6473952"/>
            <a:ext cx="11018520" cy="0"/>
          </a:xfrm>
          <a:prstGeom prst="line">
            <a:avLst/>
          </a:prstGeom>
          <a:noFill/>
          <a:ln w="10160">
            <a:solidFill>
              <a:srgbClr val="D8E4F7"/>
            </a:solidFill>
            <a:prstDash val="solid"/>
          </a:ln>
        </p:spPr>
      </p:sp>
      <p:sp>
        <p:nvSpPr>
          <p:cNvPr id="37" name="Text 35"/>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8" name="Text 36"/>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01 · TỔNG QUAN</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Mục tiêu &amp; phạm vi đề tài</a:t>
            </a:r>
            <a:endParaRPr lang="en-US" sz="2700" dirty="0"/>
          </a:p>
        </p:txBody>
      </p:sp>
      <p:sp>
        <p:nvSpPr>
          <p:cNvPr id="5" name="Shape 3"/>
          <p:cNvSpPr/>
          <p:nvPr/>
        </p:nvSpPr>
        <p:spPr>
          <a:xfrm>
            <a:off x="822960" y="1261872"/>
            <a:ext cx="393192" cy="393192"/>
          </a:xfrm>
          <a:prstGeom prst="ellipse">
            <a:avLst/>
          </a:prstGeom>
          <a:solidFill>
            <a:srgbClr val="0B4FD8"/>
          </a:solidFill>
          <a:ln w="12700">
            <a:solidFill>
              <a:srgbClr val="0B4FD8">
                <a:alpha val="0"/>
              </a:srgbClr>
            </a:solidFill>
            <a:prstDash val="solid"/>
          </a:ln>
        </p:spPr>
      </p:sp>
      <p:sp>
        <p:nvSpPr>
          <p:cNvPr id="6" name="Text 4"/>
          <p:cNvSpPr/>
          <p:nvPr/>
        </p:nvSpPr>
        <p:spPr>
          <a:xfrm>
            <a:off x="822960" y="1353312"/>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7" name="Text 5"/>
          <p:cNvSpPr/>
          <p:nvPr/>
        </p:nvSpPr>
        <p:spPr>
          <a:xfrm>
            <a:off x="1325880" y="1234440"/>
            <a:ext cx="548640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Số hóa đăng ký &amp; phê duyệt</a:t>
            </a:r>
            <a:endParaRPr lang="en-US" sz="1320" dirty="0"/>
          </a:p>
        </p:txBody>
      </p:sp>
      <p:sp>
        <p:nvSpPr>
          <p:cNvPr id="8" name="Text 6"/>
          <p:cNvSpPr/>
          <p:nvPr/>
        </p:nvSpPr>
        <p:spPr>
          <a:xfrm>
            <a:off x="1325880" y="1490472"/>
            <a:ext cx="548640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Phân loại SV FPT/ngoài trường, duyệt tài khoản trước khi tham gia.</a:t>
            </a:r>
            <a:endParaRPr lang="en-US" sz="950" dirty="0"/>
          </a:p>
        </p:txBody>
      </p:sp>
      <p:sp>
        <p:nvSpPr>
          <p:cNvPr id="9" name="Shape 7"/>
          <p:cNvSpPr/>
          <p:nvPr/>
        </p:nvSpPr>
        <p:spPr>
          <a:xfrm>
            <a:off x="822960" y="1920240"/>
            <a:ext cx="393192" cy="393192"/>
          </a:xfrm>
          <a:prstGeom prst="ellipse">
            <a:avLst/>
          </a:prstGeom>
          <a:solidFill>
            <a:srgbClr val="14B8A6"/>
          </a:solidFill>
          <a:ln w="12700">
            <a:solidFill>
              <a:srgbClr val="14B8A6">
                <a:alpha val="0"/>
              </a:srgbClr>
            </a:solidFill>
            <a:prstDash val="solid"/>
          </a:ln>
        </p:spPr>
      </p:sp>
      <p:sp>
        <p:nvSpPr>
          <p:cNvPr id="10" name="Text 8"/>
          <p:cNvSpPr/>
          <p:nvPr/>
        </p:nvSpPr>
        <p:spPr>
          <a:xfrm>
            <a:off x="822960" y="2011680"/>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1" name="Text 9"/>
          <p:cNvSpPr/>
          <p:nvPr/>
        </p:nvSpPr>
        <p:spPr>
          <a:xfrm>
            <a:off x="1325880" y="1892808"/>
            <a:ext cx="548640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Quản lý sự kiện theo mùa</a:t>
            </a:r>
            <a:endParaRPr lang="en-US" sz="1320" dirty="0"/>
          </a:p>
        </p:txBody>
      </p:sp>
      <p:sp>
        <p:nvSpPr>
          <p:cNvPr id="12" name="Text 10"/>
          <p:cNvSpPr/>
          <p:nvPr/>
        </p:nvSpPr>
        <p:spPr>
          <a:xfrm>
            <a:off x="1325880" y="2148840"/>
            <a:ext cx="548640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Spring/Summer/Fall, nhiều vòng, track, tiêu chí, Top N thăng vòng.</a:t>
            </a:r>
            <a:endParaRPr lang="en-US" sz="950" dirty="0"/>
          </a:p>
        </p:txBody>
      </p:sp>
      <p:sp>
        <p:nvSpPr>
          <p:cNvPr id="13" name="Shape 11"/>
          <p:cNvSpPr/>
          <p:nvPr/>
        </p:nvSpPr>
        <p:spPr>
          <a:xfrm>
            <a:off x="822960" y="2578608"/>
            <a:ext cx="393192" cy="393192"/>
          </a:xfrm>
          <a:prstGeom prst="ellipse">
            <a:avLst/>
          </a:prstGeom>
          <a:solidFill>
            <a:srgbClr val="F97316"/>
          </a:solidFill>
          <a:ln w="12700">
            <a:solidFill>
              <a:srgbClr val="F97316">
                <a:alpha val="0"/>
              </a:srgbClr>
            </a:solidFill>
            <a:prstDash val="solid"/>
          </a:ln>
        </p:spPr>
      </p:sp>
      <p:sp>
        <p:nvSpPr>
          <p:cNvPr id="14" name="Text 12"/>
          <p:cNvSpPr/>
          <p:nvPr/>
        </p:nvSpPr>
        <p:spPr>
          <a:xfrm>
            <a:off x="822960" y="2670048"/>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5" name="Text 13"/>
          <p:cNvSpPr/>
          <p:nvPr/>
        </p:nvSpPr>
        <p:spPr>
          <a:xfrm>
            <a:off x="1325880" y="2551176"/>
            <a:ext cx="548640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Quản lý đội &amp; bài nộp</a:t>
            </a:r>
            <a:endParaRPr lang="en-US" sz="1320" dirty="0"/>
          </a:p>
        </p:txBody>
      </p:sp>
      <p:sp>
        <p:nvSpPr>
          <p:cNvPr id="16" name="Text 14"/>
          <p:cNvSpPr/>
          <p:nvPr/>
        </p:nvSpPr>
        <p:spPr>
          <a:xfrm>
            <a:off x="1325880" y="2807208"/>
            <a:ext cx="548640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Đội 3–5 thành viên, nộp repository/demo/báo cáo/slide theo vòng.</a:t>
            </a:r>
            <a:endParaRPr lang="en-US" sz="950" dirty="0"/>
          </a:p>
        </p:txBody>
      </p:sp>
      <p:sp>
        <p:nvSpPr>
          <p:cNvPr id="17" name="Shape 15"/>
          <p:cNvSpPr/>
          <p:nvPr/>
        </p:nvSpPr>
        <p:spPr>
          <a:xfrm>
            <a:off x="822960" y="3236976"/>
            <a:ext cx="393192" cy="393192"/>
          </a:xfrm>
          <a:prstGeom prst="ellipse">
            <a:avLst/>
          </a:prstGeom>
          <a:solidFill>
            <a:srgbClr val="10B981"/>
          </a:solidFill>
          <a:ln w="12700">
            <a:solidFill>
              <a:srgbClr val="10B981">
                <a:alpha val="0"/>
              </a:srgbClr>
            </a:solidFill>
            <a:prstDash val="solid"/>
          </a:ln>
        </p:spPr>
      </p:sp>
      <p:sp>
        <p:nvSpPr>
          <p:cNvPr id="18" name="Text 16"/>
          <p:cNvSpPr/>
          <p:nvPr/>
        </p:nvSpPr>
        <p:spPr>
          <a:xfrm>
            <a:off x="822960" y="3328416"/>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19" name="Text 17"/>
          <p:cNvSpPr/>
          <p:nvPr/>
        </p:nvSpPr>
        <p:spPr>
          <a:xfrm>
            <a:off x="1325880" y="3209544"/>
            <a:ext cx="548640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Tự động chấm &amp; xếp hạng</a:t>
            </a:r>
            <a:endParaRPr lang="en-US" sz="1320" dirty="0"/>
          </a:p>
        </p:txBody>
      </p:sp>
      <p:sp>
        <p:nvSpPr>
          <p:cNvPr id="20" name="Text 18"/>
          <p:cNvSpPr/>
          <p:nvPr/>
        </p:nvSpPr>
        <p:spPr>
          <a:xfrm>
            <a:off x="1325880" y="3465576"/>
            <a:ext cx="548640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Phân công judge, điểm theo trọng số, tính ranking và kết quả vòng.</a:t>
            </a:r>
            <a:endParaRPr lang="en-US" sz="950" dirty="0"/>
          </a:p>
        </p:txBody>
      </p:sp>
      <p:sp>
        <p:nvSpPr>
          <p:cNvPr id="21" name="Shape 19"/>
          <p:cNvSpPr/>
          <p:nvPr/>
        </p:nvSpPr>
        <p:spPr>
          <a:xfrm>
            <a:off x="822960" y="3895344"/>
            <a:ext cx="393192" cy="393192"/>
          </a:xfrm>
          <a:prstGeom prst="ellipse">
            <a:avLst/>
          </a:prstGeom>
          <a:solidFill>
            <a:srgbClr val="EF4444"/>
          </a:solidFill>
          <a:ln w="12700">
            <a:solidFill>
              <a:srgbClr val="EF4444">
                <a:alpha val="0"/>
              </a:srgbClr>
            </a:solidFill>
            <a:prstDash val="solid"/>
          </a:ln>
        </p:spPr>
      </p:sp>
      <p:sp>
        <p:nvSpPr>
          <p:cNvPr id="22" name="Text 20"/>
          <p:cNvSpPr/>
          <p:nvPr/>
        </p:nvSpPr>
        <p:spPr>
          <a:xfrm>
            <a:off x="822960" y="3986784"/>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3" name="Text 21"/>
          <p:cNvSpPr/>
          <p:nvPr/>
        </p:nvSpPr>
        <p:spPr>
          <a:xfrm>
            <a:off x="1325880" y="3867912"/>
            <a:ext cx="548640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Hỗ trợ RBL</a:t>
            </a:r>
            <a:endParaRPr lang="en-US" sz="1320" dirty="0"/>
          </a:p>
        </p:txBody>
      </p:sp>
      <p:sp>
        <p:nvSpPr>
          <p:cNvPr id="24" name="Text 22"/>
          <p:cNvSpPr/>
          <p:nvPr/>
        </p:nvSpPr>
        <p:spPr>
          <a:xfrm>
            <a:off x="1325880" y="4123944"/>
            <a:ext cx="548640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Lưu score chi tiết, tính phương sai/ICC/Alpha xấp xỉ, xuất CSV ẩn danh.</a:t>
            </a:r>
            <a:endParaRPr lang="en-US" sz="950" dirty="0"/>
          </a:p>
        </p:txBody>
      </p:sp>
      <p:sp>
        <p:nvSpPr>
          <p:cNvPr id="25" name="Shape 23"/>
          <p:cNvSpPr/>
          <p:nvPr/>
        </p:nvSpPr>
        <p:spPr>
          <a:xfrm>
            <a:off x="7086600" y="1143000"/>
            <a:ext cx="4389120" cy="4343400"/>
          </a:xfrm>
          <a:prstGeom prst="roundRect">
            <a:avLst>
              <a:gd name="adj" fmla="val 3158"/>
            </a:avLst>
          </a:prstGeom>
          <a:solidFill>
            <a:srgbClr val="FFFFFF"/>
          </a:solidFill>
          <a:ln w="12700">
            <a:solidFill>
              <a:srgbClr val="D8E4F7"/>
            </a:solidFill>
            <a:prstDash val="solid"/>
          </a:ln>
        </p:spPr>
      </p:sp>
      <p:sp>
        <p:nvSpPr>
          <p:cNvPr id="26" name="Text 24"/>
          <p:cNvSpPr/>
          <p:nvPr/>
        </p:nvSpPr>
        <p:spPr>
          <a:xfrm>
            <a:off x="7406640" y="1536192"/>
            <a:ext cx="3474720" cy="292608"/>
          </a:xfrm>
          <a:prstGeom prst="rect">
            <a:avLst/>
          </a:prstGeom>
          <a:noFill/>
          <a:ln/>
        </p:spPr>
        <p:txBody>
          <a:bodyPr wrap="square" lIns="0" tIns="0" rIns="0" bIns="0" rtlCol="0" anchor="ctr"/>
          <a:lstStyle/>
          <a:p>
            <a:pPr indent="0" marL="0">
              <a:buNone/>
            </a:pPr>
            <a:r>
              <a:rPr lang="en-US" sz="1950" b="1" dirty="0">
                <a:solidFill>
                  <a:srgbClr val="0F172A"/>
                </a:solidFill>
              </a:rPr>
              <a:t>Phạm vi phiên bản hiện tại</a:t>
            </a:r>
            <a:endParaRPr lang="en-US" sz="1950" dirty="0"/>
          </a:p>
        </p:txBody>
      </p:sp>
      <p:sp>
        <p:nvSpPr>
          <p:cNvPr id="27" name="Text 25"/>
          <p:cNvSpPr/>
          <p:nvPr/>
        </p:nvSpPr>
        <p:spPr>
          <a:xfrm>
            <a:off x="7452360" y="2084832"/>
            <a:ext cx="3474720" cy="2331720"/>
          </a:xfrm>
          <a:prstGeom prst="rect">
            <a:avLst/>
          </a:prstGeom>
          <a:noFill/>
          <a:ln/>
        </p:spPr>
        <p:txBody>
          <a:bodyPr wrap="square" lIns="381" tIns="381" rIns="381" bIns="381" rtlCol="0" anchor="t">
            <a:normAutofit/>
          </a:bodyPr>
          <a:lstStyle/>
          <a:p>
            <a:r>
              <a:rPr lang="en-US" sz="1250" dirty="0">
                <a:solidFill>
                  <a:srgbClr val="0F172A"/>
                </a:solidFill>
              </a:rPr>
              <a:t>Quản lý nghiệp vụ event, track, round, team, submission, scoring, ranking, prize, announcement, audit log.
</a:t>
            </a:r>
            <a:endParaRPr lang="en-US" sz="1250" dirty="0"/>
          </a:p>
          <a:p>
            <a:r>
              <a:rPr lang="en-US" sz="1250" dirty="0">
                <a:solidFill>
                  <a:srgbClr val="0F172A"/>
                </a:solidFill>
              </a:rPr>
              <a:t>Backend Spring Boot + giao diện tĩnh chạy chung để demo nhanh trên cổng 8080.
</a:t>
            </a:r>
            <a:endParaRPr lang="en-US" sz="1250" dirty="0"/>
          </a:p>
          <a:p>
            <a:r>
              <a:rPr lang="en-US" sz="1250" dirty="0">
                <a:solidFill>
                  <a:srgbClr val="0F172A"/>
                </a:solidFill>
              </a:rPr>
              <a:t>Frontend Next.js giữ lại để phát triển tách rời nếu cần.
</a:t>
            </a:r>
            <a:endParaRPr lang="en-US" sz="1250" dirty="0"/>
          </a:p>
          <a:p>
            <a:r>
              <a:rPr lang="en-US" sz="1250" dirty="0">
                <a:solidFill>
                  <a:srgbClr val="0F172A"/>
                </a:solidFill>
              </a:rPr>
              <a:t>Chưa tích hợp GitHub/GitLab API và email thật; xác định là hướng mở rộng.</a:t>
            </a:r>
            <a:endParaRPr lang="en-US" sz="1250" dirty="0"/>
          </a:p>
        </p:txBody>
      </p:sp>
      <p:sp>
        <p:nvSpPr>
          <p:cNvPr id="28" name="Shape 26"/>
          <p:cNvSpPr/>
          <p:nvPr/>
        </p:nvSpPr>
        <p:spPr>
          <a:xfrm>
            <a:off x="7452360" y="4736592"/>
            <a:ext cx="3063240" cy="320040"/>
          </a:xfrm>
          <a:prstGeom prst="roundRect">
            <a:avLst>
              <a:gd name="adj" fmla="val 22857"/>
            </a:avLst>
          </a:prstGeom>
          <a:solidFill>
            <a:srgbClr val="EAF2FF"/>
          </a:solidFill>
          <a:ln w="12700">
            <a:solidFill>
              <a:srgbClr val="EAF2FF">
                <a:alpha val="0"/>
              </a:srgbClr>
            </a:solidFill>
            <a:prstDash val="solid"/>
          </a:ln>
        </p:spPr>
      </p:sp>
      <p:sp>
        <p:nvSpPr>
          <p:cNvPr id="29" name="Text 27"/>
          <p:cNvSpPr/>
          <p:nvPr/>
        </p:nvSpPr>
        <p:spPr>
          <a:xfrm>
            <a:off x="7525512" y="4809744"/>
            <a:ext cx="2916936" cy="146304"/>
          </a:xfrm>
          <a:prstGeom prst="rect">
            <a:avLst/>
          </a:prstGeom>
          <a:noFill/>
          <a:ln/>
        </p:spPr>
        <p:txBody>
          <a:bodyPr wrap="square" lIns="0" tIns="0" rIns="0" bIns="0" rtlCol="0" anchor="ctr"/>
          <a:lstStyle/>
          <a:p>
            <a:pPr algn="ctr" indent="0" marL="0">
              <a:buNone/>
            </a:pPr>
            <a:r>
              <a:rPr lang="en-US" sz="750" b="1" dirty="0">
                <a:solidFill>
                  <a:srgbClr val="0B4FD8"/>
                </a:solidFill>
              </a:rPr>
              <a:t>Phiên bản demo tập trung đúng yêu cầu môn học</a:t>
            </a:r>
            <a:endParaRPr lang="en-US" sz="750" dirty="0"/>
          </a:p>
        </p:txBody>
      </p:sp>
      <p:sp>
        <p:nvSpPr>
          <p:cNvPr id="30" name="Shape 28"/>
          <p:cNvSpPr/>
          <p:nvPr/>
        </p:nvSpPr>
        <p:spPr>
          <a:xfrm>
            <a:off x="594360" y="6473952"/>
            <a:ext cx="11018520" cy="0"/>
          </a:xfrm>
          <a:prstGeom prst="line">
            <a:avLst/>
          </a:prstGeom>
          <a:noFill/>
          <a:ln w="10160">
            <a:solidFill>
              <a:srgbClr val="D8E4F7"/>
            </a:solidFill>
            <a:prstDash val="solid"/>
          </a:ln>
        </p:spPr>
      </p:sp>
      <p:sp>
        <p:nvSpPr>
          <p:cNvPr id="31" name="Text 29"/>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2" name="Text 30"/>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02 · PHÂN TÍCH</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Tác nhân &amp; use case chính</a:t>
            </a:r>
            <a:endParaRPr lang="en-US" sz="2700" dirty="0"/>
          </a:p>
        </p:txBody>
      </p:sp>
      <p:pic>
        <p:nvPicPr>
          <p:cNvPr id="5" name="Image 0" descr="/mnt/data/docx_media/image2.png">    </p:cNvPr>
          <p:cNvPicPr>
            <a:picLocks noChangeAspect="1"/>
          </p:cNvPicPr>
          <p:nvPr/>
        </p:nvPicPr>
        <p:blipFill>
          <a:blip r:embed="rId1"/>
          <a:srcRect l="4000" r="-18625" t="2000" b="2000"/>
          <a:stretch/>
        </p:blipFill>
        <p:spPr>
          <a:xfrm>
            <a:off x="6812280" y="1097280"/>
            <a:ext cx="4434840" cy="4434840"/>
          </a:xfrm>
          <a:prstGeom prst="rect">
            <a:avLst/>
          </a:prstGeom>
        </p:spPr>
      </p:pic>
      <p:sp>
        <p:nvSpPr>
          <p:cNvPr id="6" name="Shape 3"/>
          <p:cNvSpPr/>
          <p:nvPr/>
        </p:nvSpPr>
        <p:spPr>
          <a:xfrm>
            <a:off x="6739128" y="1024128"/>
            <a:ext cx="4572000" cy="4572000"/>
          </a:xfrm>
          <a:prstGeom prst="roundRect">
            <a:avLst>
              <a:gd name="adj" fmla="val 2400"/>
            </a:avLst>
          </a:prstGeom>
          <a:solidFill>
            <a:srgbClr val="FFFFFF">
              <a:alpha val="0"/>
            </a:srgbClr>
          </a:solidFill>
          <a:ln w="12700">
            <a:solidFill>
              <a:srgbClr val="D8E4F7"/>
            </a:solidFill>
            <a:prstDash val="solid"/>
          </a:ln>
        </p:spPr>
      </p:sp>
      <p:sp>
        <p:nvSpPr>
          <p:cNvPr id="7" name="Shape 4"/>
          <p:cNvSpPr/>
          <p:nvPr/>
        </p:nvSpPr>
        <p:spPr>
          <a:xfrm>
            <a:off x="731520" y="1152144"/>
            <a:ext cx="5349240" cy="749808"/>
          </a:xfrm>
          <a:prstGeom prst="roundRect">
            <a:avLst>
              <a:gd name="adj" fmla="val 14634"/>
            </a:avLst>
          </a:prstGeom>
          <a:solidFill>
            <a:srgbClr val="FFFFFF"/>
          </a:solidFill>
          <a:ln w="12700">
            <a:solidFill>
              <a:srgbClr val="D8E4F7"/>
            </a:solidFill>
            <a:prstDash val="solid"/>
          </a:ln>
        </p:spPr>
      </p:sp>
      <p:sp>
        <p:nvSpPr>
          <p:cNvPr id="8" name="Shape 5"/>
          <p:cNvSpPr/>
          <p:nvPr/>
        </p:nvSpPr>
        <p:spPr>
          <a:xfrm>
            <a:off x="731520" y="1152144"/>
            <a:ext cx="73152" cy="749808"/>
          </a:xfrm>
          <a:prstGeom prst="rect">
            <a:avLst/>
          </a:prstGeom>
          <a:solidFill>
            <a:srgbClr val="0B4FD8"/>
          </a:solidFill>
          <a:ln w="12700">
            <a:solidFill>
              <a:srgbClr val="0B4FD8">
                <a:alpha val="0"/>
              </a:srgbClr>
            </a:solidFill>
            <a:prstDash val="solid"/>
          </a:ln>
        </p:spPr>
      </p:sp>
      <p:sp>
        <p:nvSpPr>
          <p:cNvPr id="9" name="Text 6"/>
          <p:cNvSpPr/>
          <p:nvPr/>
        </p:nvSpPr>
        <p:spPr>
          <a:xfrm>
            <a:off x="960120" y="1353312"/>
            <a:ext cx="4983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Team Leader / Member</a:t>
            </a:r>
            <a:endParaRPr lang="en-US" sz="1200" dirty="0"/>
          </a:p>
        </p:txBody>
      </p:sp>
      <p:sp>
        <p:nvSpPr>
          <p:cNvPr id="10" name="Text 7"/>
          <p:cNvSpPr/>
          <p:nvPr/>
        </p:nvSpPr>
        <p:spPr>
          <a:xfrm>
            <a:off x="960120" y="1719072"/>
            <a:ext cx="5001768" cy="36576"/>
          </a:xfrm>
          <a:prstGeom prst="rect">
            <a:avLst/>
          </a:prstGeom>
          <a:noFill/>
          <a:ln/>
        </p:spPr>
        <p:txBody>
          <a:bodyPr wrap="square" lIns="0" tIns="0" rIns="0" bIns="0" rtlCol="0" anchor="ctr">
            <a:normAutofit/>
          </a:bodyPr>
          <a:lstStyle/>
          <a:p>
            <a:pPr indent="0" marL="0">
              <a:buNone/>
            </a:pPr>
            <a:r>
              <a:rPr lang="en-US" sz="1050" dirty="0">
                <a:solidFill>
                  <a:srgbClr val="64748B"/>
                </a:solidFill>
              </a:rPr>
              <a:t>Đăng ký, lập đội, nộp bài, xem kết quả.</a:t>
            </a:r>
            <a:endParaRPr lang="en-US" sz="1050" dirty="0"/>
          </a:p>
        </p:txBody>
      </p:sp>
      <p:sp>
        <p:nvSpPr>
          <p:cNvPr id="11" name="Shape 8"/>
          <p:cNvSpPr/>
          <p:nvPr/>
        </p:nvSpPr>
        <p:spPr>
          <a:xfrm>
            <a:off x="731520" y="2157984"/>
            <a:ext cx="5349240" cy="749808"/>
          </a:xfrm>
          <a:prstGeom prst="roundRect">
            <a:avLst>
              <a:gd name="adj" fmla="val 14634"/>
            </a:avLst>
          </a:prstGeom>
          <a:solidFill>
            <a:srgbClr val="FFFFFF"/>
          </a:solidFill>
          <a:ln w="12700">
            <a:solidFill>
              <a:srgbClr val="D8E4F7"/>
            </a:solidFill>
            <a:prstDash val="solid"/>
          </a:ln>
        </p:spPr>
      </p:sp>
      <p:sp>
        <p:nvSpPr>
          <p:cNvPr id="12" name="Shape 9"/>
          <p:cNvSpPr/>
          <p:nvPr/>
        </p:nvSpPr>
        <p:spPr>
          <a:xfrm>
            <a:off x="731520" y="2157984"/>
            <a:ext cx="73152" cy="749808"/>
          </a:xfrm>
          <a:prstGeom prst="rect">
            <a:avLst/>
          </a:prstGeom>
          <a:solidFill>
            <a:srgbClr val="14B8A6"/>
          </a:solidFill>
          <a:ln w="12700">
            <a:solidFill>
              <a:srgbClr val="14B8A6">
                <a:alpha val="0"/>
              </a:srgbClr>
            </a:solidFill>
            <a:prstDash val="solid"/>
          </a:ln>
        </p:spPr>
      </p:sp>
      <p:sp>
        <p:nvSpPr>
          <p:cNvPr id="13" name="Text 10"/>
          <p:cNvSpPr/>
          <p:nvPr/>
        </p:nvSpPr>
        <p:spPr>
          <a:xfrm>
            <a:off x="960120" y="2359152"/>
            <a:ext cx="4983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Mentor</a:t>
            </a:r>
            <a:endParaRPr lang="en-US" sz="1200" dirty="0"/>
          </a:p>
        </p:txBody>
      </p:sp>
      <p:sp>
        <p:nvSpPr>
          <p:cNvPr id="14" name="Text 11"/>
          <p:cNvSpPr/>
          <p:nvPr/>
        </p:nvSpPr>
        <p:spPr>
          <a:xfrm>
            <a:off x="960120" y="2724912"/>
            <a:ext cx="5001768" cy="36576"/>
          </a:xfrm>
          <a:prstGeom prst="rect">
            <a:avLst/>
          </a:prstGeom>
          <a:noFill/>
          <a:ln/>
        </p:spPr>
        <p:txBody>
          <a:bodyPr wrap="square" lIns="0" tIns="0" rIns="0" bIns="0" rtlCol="0" anchor="ctr">
            <a:normAutofit/>
          </a:bodyPr>
          <a:lstStyle/>
          <a:p>
            <a:pPr indent="0" marL="0">
              <a:buNone/>
            </a:pPr>
            <a:r>
              <a:rPr lang="en-US" sz="1050" dirty="0">
                <a:solidFill>
                  <a:srgbClr val="64748B"/>
                </a:solidFill>
              </a:rPr>
              <a:t>Theo dõi đội/hạng mục được phân công, hỗ trợ tiến độ.</a:t>
            </a:r>
            <a:endParaRPr lang="en-US" sz="1050" dirty="0"/>
          </a:p>
        </p:txBody>
      </p:sp>
      <p:sp>
        <p:nvSpPr>
          <p:cNvPr id="15" name="Shape 12"/>
          <p:cNvSpPr/>
          <p:nvPr/>
        </p:nvSpPr>
        <p:spPr>
          <a:xfrm>
            <a:off x="731520" y="3163824"/>
            <a:ext cx="5349240" cy="749808"/>
          </a:xfrm>
          <a:prstGeom prst="roundRect">
            <a:avLst>
              <a:gd name="adj" fmla="val 14634"/>
            </a:avLst>
          </a:prstGeom>
          <a:solidFill>
            <a:srgbClr val="FFFFFF"/>
          </a:solidFill>
          <a:ln w="12700">
            <a:solidFill>
              <a:srgbClr val="D8E4F7"/>
            </a:solidFill>
            <a:prstDash val="solid"/>
          </a:ln>
        </p:spPr>
      </p:sp>
      <p:sp>
        <p:nvSpPr>
          <p:cNvPr id="16" name="Shape 13"/>
          <p:cNvSpPr/>
          <p:nvPr/>
        </p:nvSpPr>
        <p:spPr>
          <a:xfrm>
            <a:off x="731520" y="3163824"/>
            <a:ext cx="73152" cy="749808"/>
          </a:xfrm>
          <a:prstGeom prst="rect">
            <a:avLst/>
          </a:prstGeom>
          <a:solidFill>
            <a:srgbClr val="F97316"/>
          </a:solidFill>
          <a:ln w="12700">
            <a:solidFill>
              <a:srgbClr val="F97316">
                <a:alpha val="0"/>
              </a:srgbClr>
            </a:solidFill>
            <a:prstDash val="solid"/>
          </a:ln>
        </p:spPr>
      </p:sp>
      <p:sp>
        <p:nvSpPr>
          <p:cNvPr id="17" name="Text 14"/>
          <p:cNvSpPr/>
          <p:nvPr/>
        </p:nvSpPr>
        <p:spPr>
          <a:xfrm>
            <a:off x="960120" y="3364992"/>
            <a:ext cx="4983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Judge / Guest Judge</a:t>
            </a:r>
            <a:endParaRPr lang="en-US" sz="1200" dirty="0"/>
          </a:p>
        </p:txBody>
      </p:sp>
      <p:sp>
        <p:nvSpPr>
          <p:cNvPr id="18" name="Text 15"/>
          <p:cNvSpPr/>
          <p:nvPr/>
        </p:nvSpPr>
        <p:spPr>
          <a:xfrm>
            <a:off x="960120" y="3730752"/>
            <a:ext cx="5001768" cy="36576"/>
          </a:xfrm>
          <a:prstGeom prst="rect">
            <a:avLst/>
          </a:prstGeom>
          <a:noFill/>
          <a:ln/>
        </p:spPr>
        <p:txBody>
          <a:bodyPr wrap="square" lIns="0" tIns="0" rIns="0" bIns="0" rtlCol="0" anchor="ctr">
            <a:normAutofit/>
          </a:bodyPr>
          <a:lstStyle/>
          <a:p>
            <a:pPr indent="0" marL="0">
              <a:buNone/>
            </a:pPr>
            <a:r>
              <a:rPr lang="en-US" sz="1050" dirty="0">
                <a:solidFill>
                  <a:srgbClr val="64748B"/>
                </a:solidFill>
              </a:rPr>
              <a:t>Xem bài nộp được phân công và chấm theo tiêu chí.</a:t>
            </a:r>
            <a:endParaRPr lang="en-US" sz="1050" dirty="0"/>
          </a:p>
        </p:txBody>
      </p:sp>
      <p:sp>
        <p:nvSpPr>
          <p:cNvPr id="19" name="Shape 16"/>
          <p:cNvSpPr/>
          <p:nvPr/>
        </p:nvSpPr>
        <p:spPr>
          <a:xfrm>
            <a:off x="731520" y="4169664"/>
            <a:ext cx="5349240" cy="749808"/>
          </a:xfrm>
          <a:prstGeom prst="roundRect">
            <a:avLst>
              <a:gd name="adj" fmla="val 14634"/>
            </a:avLst>
          </a:prstGeom>
          <a:solidFill>
            <a:srgbClr val="FFFFFF"/>
          </a:solidFill>
          <a:ln w="12700">
            <a:solidFill>
              <a:srgbClr val="D8E4F7"/>
            </a:solidFill>
            <a:prstDash val="solid"/>
          </a:ln>
        </p:spPr>
      </p:sp>
      <p:sp>
        <p:nvSpPr>
          <p:cNvPr id="20" name="Shape 17"/>
          <p:cNvSpPr/>
          <p:nvPr/>
        </p:nvSpPr>
        <p:spPr>
          <a:xfrm>
            <a:off x="731520" y="4169664"/>
            <a:ext cx="73152" cy="749808"/>
          </a:xfrm>
          <a:prstGeom prst="rect">
            <a:avLst/>
          </a:prstGeom>
          <a:solidFill>
            <a:srgbClr val="EF4444"/>
          </a:solidFill>
          <a:ln w="12700">
            <a:solidFill>
              <a:srgbClr val="EF4444">
                <a:alpha val="0"/>
              </a:srgbClr>
            </a:solidFill>
            <a:prstDash val="solid"/>
          </a:ln>
        </p:spPr>
      </p:sp>
      <p:sp>
        <p:nvSpPr>
          <p:cNvPr id="21" name="Text 18"/>
          <p:cNvSpPr/>
          <p:nvPr/>
        </p:nvSpPr>
        <p:spPr>
          <a:xfrm>
            <a:off x="960120" y="4370832"/>
            <a:ext cx="4983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Event Coordinator</a:t>
            </a:r>
            <a:endParaRPr lang="en-US" sz="1200" dirty="0"/>
          </a:p>
        </p:txBody>
      </p:sp>
      <p:sp>
        <p:nvSpPr>
          <p:cNvPr id="22" name="Text 19"/>
          <p:cNvSpPr/>
          <p:nvPr/>
        </p:nvSpPr>
        <p:spPr>
          <a:xfrm>
            <a:off x="960120" y="4736592"/>
            <a:ext cx="5001768" cy="36576"/>
          </a:xfrm>
          <a:prstGeom prst="rect">
            <a:avLst/>
          </a:prstGeom>
          <a:noFill/>
          <a:ln/>
        </p:spPr>
        <p:txBody>
          <a:bodyPr wrap="square" lIns="0" tIns="0" rIns="0" bIns="0" rtlCol="0" anchor="ctr">
            <a:normAutofit/>
          </a:bodyPr>
          <a:lstStyle/>
          <a:p>
            <a:pPr indent="0" marL="0">
              <a:buNone/>
            </a:pPr>
            <a:r>
              <a:rPr lang="en-US" sz="1050" dirty="0">
                <a:solidFill>
                  <a:srgbClr val="64748B"/>
                </a:solidFill>
              </a:rPr>
              <a:t>Quản lý sự kiện, vòng, track, tiêu chí, tài khoản, ranking, RBL.</a:t>
            </a:r>
            <a:endParaRPr lang="en-US" sz="1050" dirty="0"/>
          </a:p>
        </p:txBody>
      </p:sp>
      <p:sp>
        <p:nvSpPr>
          <p:cNvPr id="23" name="Text 20"/>
          <p:cNvSpPr/>
          <p:nvPr/>
        </p:nvSpPr>
        <p:spPr>
          <a:xfrm>
            <a:off x="731520" y="5349240"/>
            <a:ext cx="5303520" cy="502920"/>
          </a:xfrm>
          <a:prstGeom prst="rect">
            <a:avLst/>
          </a:prstGeom>
          <a:noFill/>
          <a:ln/>
        </p:spPr>
        <p:txBody>
          <a:bodyPr wrap="square" lIns="0" tIns="0" rIns="0" bIns="0" rtlCol="0" anchor="ctr">
            <a:normAutofit/>
          </a:bodyPr>
          <a:lstStyle/>
          <a:p>
            <a:pPr indent="0" marL="0">
              <a:buNone/>
            </a:pPr>
            <a:r>
              <a:rPr lang="en-US" sz="1220" dirty="0">
                <a:solidFill>
                  <a:srgbClr val="64748B"/>
                </a:solidFill>
              </a:rPr>
              <a:t>Use case diagram trong báo cáo thể hiện mối quan hệ giữa 5 vai trò và các chức năng nghiệp vụ như quản lý sự kiện, đội thi, phân công mentor/judge, nộp bài, chấm điểm, thông báo và xếp hạng.</a:t>
            </a:r>
            <a:endParaRPr lang="en-US" sz="1220" dirty="0"/>
          </a:p>
        </p:txBody>
      </p:sp>
      <p:sp>
        <p:nvSpPr>
          <p:cNvPr id="24" name="Shape 21"/>
          <p:cNvSpPr/>
          <p:nvPr/>
        </p:nvSpPr>
        <p:spPr>
          <a:xfrm>
            <a:off x="594360" y="6473952"/>
            <a:ext cx="11018520" cy="0"/>
          </a:xfrm>
          <a:prstGeom prst="line">
            <a:avLst/>
          </a:prstGeom>
          <a:noFill/>
          <a:ln w="10160">
            <a:solidFill>
              <a:srgbClr val="D8E4F7"/>
            </a:solidFill>
            <a:prstDash val="solid"/>
          </a:ln>
        </p:spPr>
      </p:sp>
      <p:sp>
        <p:nvSpPr>
          <p:cNvPr id="25" name="Text 22"/>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26" name="Text 23"/>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02 · PHÂN TÍCH</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Luồng xử lý nghiệp vụ tổng thể</a:t>
            </a:r>
            <a:endParaRPr lang="en-US" sz="2700" dirty="0"/>
          </a:p>
        </p:txBody>
      </p:sp>
      <p:pic>
        <p:nvPicPr>
          <p:cNvPr id="5" name="Image 0" descr="/mnt/data/docx_media/image3.png">    </p:cNvPr>
          <p:cNvPicPr>
            <a:picLocks noChangeAspect="1"/>
          </p:cNvPicPr>
          <p:nvPr/>
        </p:nvPicPr>
        <p:blipFill>
          <a:blip r:embed="rId1"/>
          <a:stretch>
            <a:fillRect/>
          </a:stretch>
        </p:blipFill>
        <p:spPr>
          <a:xfrm>
            <a:off x="822678" y="1143000"/>
            <a:ext cx="4023923" cy="5029200"/>
          </a:xfrm>
          <a:prstGeom prst="rect">
            <a:avLst/>
          </a:prstGeom>
        </p:spPr>
      </p:pic>
      <p:sp>
        <p:nvSpPr>
          <p:cNvPr id="6" name="Shape 3"/>
          <p:cNvSpPr/>
          <p:nvPr/>
        </p:nvSpPr>
        <p:spPr>
          <a:xfrm>
            <a:off x="621792" y="1078992"/>
            <a:ext cx="4434840" cy="5166360"/>
          </a:xfrm>
          <a:prstGeom prst="roundRect">
            <a:avLst>
              <a:gd name="adj" fmla="val 2474"/>
            </a:avLst>
          </a:prstGeom>
          <a:solidFill>
            <a:srgbClr val="FFFFFF">
              <a:alpha val="0"/>
            </a:srgbClr>
          </a:solidFill>
          <a:ln w="12700">
            <a:solidFill>
              <a:srgbClr val="D8E4F7"/>
            </a:solidFill>
            <a:prstDash val="solid"/>
          </a:ln>
        </p:spPr>
      </p:sp>
      <p:sp>
        <p:nvSpPr>
          <p:cNvPr id="7" name="Shape 4"/>
          <p:cNvSpPr/>
          <p:nvPr/>
        </p:nvSpPr>
        <p:spPr>
          <a:xfrm>
            <a:off x="5532120" y="1289304"/>
            <a:ext cx="393192" cy="393192"/>
          </a:xfrm>
          <a:prstGeom prst="ellipse">
            <a:avLst/>
          </a:prstGeom>
          <a:solidFill>
            <a:srgbClr val="0B4FD8"/>
          </a:solidFill>
          <a:ln w="12700">
            <a:solidFill>
              <a:srgbClr val="0B4FD8">
                <a:alpha val="0"/>
              </a:srgbClr>
            </a:solidFill>
            <a:prstDash val="solid"/>
          </a:ln>
        </p:spPr>
      </p:sp>
      <p:sp>
        <p:nvSpPr>
          <p:cNvPr id="8" name="Text 5"/>
          <p:cNvSpPr/>
          <p:nvPr/>
        </p:nvSpPr>
        <p:spPr>
          <a:xfrm>
            <a:off x="5532120" y="1380744"/>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1</a:t>
            </a:r>
            <a:endParaRPr lang="en-US" sz="800" dirty="0"/>
          </a:p>
        </p:txBody>
      </p:sp>
      <p:sp>
        <p:nvSpPr>
          <p:cNvPr id="9" name="Text 6"/>
          <p:cNvSpPr/>
          <p:nvPr/>
        </p:nvSpPr>
        <p:spPr>
          <a:xfrm>
            <a:off x="6035040" y="1261872"/>
            <a:ext cx="498348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Đăng ký &amp; duyệt</a:t>
            </a:r>
            <a:endParaRPr lang="en-US" sz="1320" dirty="0"/>
          </a:p>
        </p:txBody>
      </p:sp>
      <p:sp>
        <p:nvSpPr>
          <p:cNvPr id="10" name="Text 7"/>
          <p:cNvSpPr/>
          <p:nvPr/>
        </p:nvSpPr>
        <p:spPr>
          <a:xfrm>
            <a:off x="6035040" y="1517904"/>
            <a:ext cx="498348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Người dùng đăng ký; admin kiểm tra hợp lệ và duyệt/từ chối.</a:t>
            </a:r>
            <a:endParaRPr lang="en-US" sz="950" dirty="0"/>
          </a:p>
        </p:txBody>
      </p:sp>
      <p:sp>
        <p:nvSpPr>
          <p:cNvPr id="11" name="Shape 8"/>
          <p:cNvSpPr/>
          <p:nvPr/>
        </p:nvSpPr>
        <p:spPr>
          <a:xfrm>
            <a:off x="5532120" y="2130552"/>
            <a:ext cx="393192" cy="393192"/>
          </a:xfrm>
          <a:prstGeom prst="ellipse">
            <a:avLst/>
          </a:prstGeom>
          <a:solidFill>
            <a:srgbClr val="14B8A6"/>
          </a:solidFill>
          <a:ln w="12700">
            <a:solidFill>
              <a:srgbClr val="14B8A6">
                <a:alpha val="0"/>
              </a:srgbClr>
            </a:solidFill>
            <a:prstDash val="solid"/>
          </a:ln>
        </p:spPr>
      </p:sp>
      <p:sp>
        <p:nvSpPr>
          <p:cNvPr id="12" name="Text 9"/>
          <p:cNvSpPr/>
          <p:nvPr/>
        </p:nvSpPr>
        <p:spPr>
          <a:xfrm>
            <a:off x="5532120" y="2221992"/>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2</a:t>
            </a:r>
            <a:endParaRPr lang="en-US" sz="800" dirty="0"/>
          </a:p>
        </p:txBody>
      </p:sp>
      <p:sp>
        <p:nvSpPr>
          <p:cNvPr id="13" name="Text 10"/>
          <p:cNvSpPr/>
          <p:nvPr/>
        </p:nvSpPr>
        <p:spPr>
          <a:xfrm>
            <a:off x="6035040" y="2103120"/>
            <a:ext cx="498348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Đăng nhập &amp; tạo đội</a:t>
            </a:r>
            <a:endParaRPr lang="en-US" sz="1320" dirty="0"/>
          </a:p>
        </p:txBody>
      </p:sp>
      <p:sp>
        <p:nvSpPr>
          <p:cNvPr id="14" name="Text 11"/>
          <p:cNvSpPr/>
          <p:nvPr/>
        </p:nvSpPr>
        <p:spPr>
          <a:xfrm>
            <a:off x="6035040" y="2359152"/>
            <a:ext cx="498348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Tài khoản đã duyệt vào dashboard, tạo đội và thêm thành viên.</a:t>
            </a:r>
            <a:endParaRPr lang="en-US" sz="950" dirty="0"/>
          </a:p>
        </p:txBody>
      </p:sp>
      <p:sp>
        <p:nvSpPr>
          <p:cNvPr id="15" name="Shape 12"/>
          <p:cNvSpPr/>
          <p:nvPr/>
        </p:nvSpPr>
        <p:spPr>
          <a:xfrm>
            <a:off x="5532120" y="2971800"/>
            <a:ext cx="393192" cy="393192"/>
          </a:xfrm>
          <a:prstGeom prst="ellipse">
            <a:avLst/>
          </a:prstGeom>
          <a:solidFill>
            <a:srgbClr val="F97316"/>
          </a:solidFill>
          <a:ln w="12700">
            <a:solidFill>
              <a:srgbClr val="F97316">
                <a:alpha val="0"/>
              </a:srgbClr>
            </a:solidFill>
            <a:prstDash val="solid"/>
          </a:ln>
        </p:spPr>
      </p:sp>
      <p:sp>
        <p:nvSpPr>
          <p:cNvPr id="16" name="Text 13"/>
          <p:cNvSpPr/>
          <p:nvPr/>
        </p:nvSpPr>
        <p:spPr>
          <a:xfrm>
            <a:off x="5532120" y="3063240"/>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3</a:t>
            </a:r>
            <a:endParaRPr lang="en-US" sz="800" dirty="0"/>
          </a:p>
        </p:txBody>
      </p:sp>
      <p:sp>
        <p:nvSpPr>
          <p:cNvPr id="17" name="Text 14"/>
          <p:cNvSpPr/>
          <p:nvPr/>
        </p:nvSpPr>
        <p:spPr>
          <a:xfrm>
            <a:off x="6035040" y="2944368"/>
            <a:ext cx="498348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Nộp bài theo vòng</a:t>
            </a:r>
            <a:endParaRPr lang="en-US" sz="1320" dirty="0"/>
          </a:p>
        </p:txBody>
      </p:sp>
      <p:sp>
        <p:nvSpPr>
          <p:cNvPr id="18" name="Text 15"/>
          <p:cNvSpPr/>
          <p:nvPr/>
        </p:nvSpPr>
        <p:spPr>
          <a:xfrm>
            <a:off x="6035040" y="3200400"/>
            <a:ext cx="498348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Team Leader nộp URL repository, demo, báo cáo/slide.</a:t>
            </a:r>
            <a:endParaRPr lang="en-US" sz="950" dirty="0"/>
          </a:p>
        </p:txBody>
      </p:sp>
      <p:sp>
        <p:nvSpPr>
          <p:cNvPr id="19" name="Shape 16"/>
          <p:cNvSpPr/>
          <p:nvPr/>
        </p:nvSpPr>
        <p:spPr>
          <a:xfrm>
            <a:off x="5532120" y="3813048"/>
            <a:ext cx="393192" cy="393192"/>
          </a:xfrm>
          <a:prstGeom prst="ellipse">
            <a:avLst/>
          </a:prstGeom>
          <a:solidFill>
            <a:srgbClr val="10B981"/>
          </a:solidFill>
          <a:ln w="12700">
            <a:solidFill>
              <a:srgbClr val="10B981">
                <a:alpha val="0"/>
              </a:srgbClr>
            </a:solidFill>
            <a:prstDash val="solid"/>
          </a:ln>
        </p:spPr>
      </p:sp>
      <p:sp>
        <p:nvSpPr>
          <p:cNvPr id="20" name="Text 17"/>
          <p:cNvSpPr/>
          <p:nvPr/>
        </p:nvSpPr>
        <p:spPr>
          <a:xfrm>
            <a:off x="5532120" y="3904488"/>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4</a:t>
            </a:r>
            <a:endParaRPr lang="en-US" sz="800" dirty="0"/>
          </a:p>
        </p:txBody>
      </p:sp>
      <p:sp>
        <p:nvSpPr>
          <p:cNvPr id="21" name="Text 18"/>
          <p:cNvSpPr/>
          <p:nvPr/>
        </p:nvSpPr>
        <p:spPr>
          <a:xfrm>
            <a:off x="6035040" y="3785616"/>
            <a:ext cx="498348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Phân công &amp; chấm điểm</a:t>
            </a:r>
            <a:endParaRPr lang="en-US" sz="1320" dirty="0"/>
          </a:p>
        </p:txBody>
      </p:sp>
      <p:sp>
        <p:nvSpPr>
          <p:cNvPr id="22" name="Text 19"/>
          <p:cNvSpPr/>
          <p:nvPr/>
        </p:nvSpPr>
        <p:spPr>
          <a:xfrm>
            <a:off x="6035040" y="4041648"/>
            <a:ext cx="498348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BTC phân công giám khảo; judge chấm theo từng tiêu chí.</a:t>
            </a:r>
            <a:endParaRPr lang="en-US" sz="950" dirty="0"/>
          </a:p>
        </p:txBody>
      </p:sp>
      <p:sp>
        <p:nvSpPr>
          <p:cNvPr id="23" name="Shape 20"/>
          <p:cNvSpPr/>
          <p:nvPr/>
        </p:nvSpPr>
        <p:spPr>
          <a:xfrm>
            <a:off x="5532120" y="4654296"/>
            <a:ext cx="393192" cy="393192"/>
          </a:xfrm>
          <a:prstGeom prst="ellipse">
            <a:avLst/>
          </a:prstGeom>
          <a:solidFill>
            <a:srgbClr val="EF4444"/>
          </a:solidFill>
          <a:ln w="12700">
            <a:solidFill>
              <a:srgbClr val="EF4444">
                <a:alpha val="0"/>
              </a:srgbClr>
            </a:solidFill>
            <a:prstDash val="solid"/>
          </a:ln>
        </p:spPr>
      </p:sp>
      <p:sp>
        <p:nvSpPr>
          <p:cNvPr id="24" name="Text 21"/>
          <p:cNvSpPr/>
          <p:nvPr/>
        </p:nvSpPr>
        <p:spPr>
          <a:xfrm>
            <a:off x="5532120" y="4745736"/>
            <a:ext cx="393192" cy="91440"/>
          </a:xfrm>
          <a:prstGeom prst="rect">
            <a:avLst/>
          </a:prstGeom>
          <a:noFill/>
          <a:ln/>
        </p:spPr>
        <p:txBody>
          <a:bodyPr wrap="square" lIns="0" tIns="0" rIns="0" bIns="0" rtlCol="0" anchor="ctr"/>
          <a:lstStyle/>
          <a:p>
            <a:pPr algn="ctr" indent="0" marL="0">
              <a:buNone/>
            </a:pPr>
            <a:r>
              <a:rPr lang="en-US" sz="800" b="1" dirty="0">
                <a:solidFill>
                  <a:srgbClr val="FFFFFF"/>
                </a:solidFill>
              </a:rPr>
              <a:t>5</a:t>
            </a:r>
            <a:endParaRPr lang="en-US" sz="800" dirty="0"/>
          </a:p>
        </p:txBody>
      </p:sp>
      <p:sp>
        <p:nvSpPr>
          <p:cNvPr id="25" name="Text 22"/>
          <p:cNvSpPr/>
          <p:nvPr/>
        </p:nvSpPr>
        <p:spPr>
          <a:xfrm>
            <a:off x="6035040" y="4626864"/>
            <a:ext cx="4983480" cy="201168"/>
          </a:xfrm>
          <a:prstGeom prst="rect">
            <a:avLst/>
          </a:prstGeom>
          <a:noFill/>
          <a:ln/>
        </p:spPr>
        <p:txBody>
          <a:bodyPr wrap="square" lIns="0" tIns="0" rIns="0" bIns="0" rtlCol="0" anchor="ctr">
            <a:normAutofit/>
          </a:bodyPr>
          <a:lstStyle/>
          <a:p>
            <a:pPr indent="0" marL="0">
              <a:buNone/>
            </a:pPr>
            <a:r>
              <a:rPr lang="en-US" sz="1320" b="1" dirty="0">
                <a:solidFill>
                  <a:srgbClr val="0F172A"/>
                </a:solidFill>
              </a:rPr>
              <a:t>Tính điểm &amp; công bố</a:t>
            </a:r>
            <a:endParaRPr lang="en-US" sz="1320" dirty="0"/>
          </a:p>
        </p:txBody>
      </p:sp>
      <p:sp>
        <p:nvSpPr>
          <p:cNvPr id="26" name="Text 23"/>
          <p:cNvSpPr/>
          <p:nvPr/>
        </p:nvSpPr>
        <p:spPr>
          <a:xfrm>
            <a:off x="6035040" y="4882896"/>
            <a:ext cx="4983480" cy="219456"/>
          </a:xfrm>
          <a:prstGeom prst="rect">
            <a:avLst/>
          </a:prstGeom>
          <a:noFill/>
          <a:ln/>
        </p:spPr>
        <p:txBody>
          <a:bodyPr wrap="square" lIns="0" tIns="0" rIns="0" bIns="0" rtlCol="0" anchor="ctr">
            <a:normAutofit/>
          </a:bodyPr>
          <a:lstStyle/>
          <a:p>
            <a:pPr indent="0" marL="0">
              <a:buNone/>
            </a:pPr>
            <a:r>
              <a:rPr lang="en-US" sz="950" dirty="0">
                <a:solidFill>
                  <a:srgbClr val="64748B"/>
                </a:solidFill>
              </a:rPr>
              <a:t>Hệ thống tính tổng điểm, xếp hạng, xét thăng vòng và hiển thị kết quả.</a:t>
            </a:r>
            <a:endParaRPr lang="en-US" sz="950" dirty="0"/>
          </a:p>
        </p:txBody>
      </p:sp>
      <p:sp>
        <p:nvSpPr>
          <p:cNvPr id="27" name="Text 24"/>
          <p:cNvSpPr/>
          <p:nvPr/>
        </p:nvSpPr>
        <p:spPr>
          <a:xfrm>
            <a:off x="5532120" y="5650992"/>
            <a:ext cx="5120640" cy="411480"/>
          </a:xfrm>
          <a:prstGeom prst="rect">
            <a:avLst/>
          </a:prstGeom>
          <a:noFill/>
          <a:ln/>
        </p:spPr>
        <p:txBody>
          <a:bodyPr wrap="square" lIns="0" tIns="0" rIns="0" bIns="0" rtlCol="0" anchor="ctr">
            <a:normAutofit/>
          </a:bodyPr>
          <a:lstStyle/>
          <a:p>
            <a:pPr indent="0" marL="0">
              <a:buNone/>
            </a:pPr>
            <a:r>
              <a:rPr lang="en-US" sz="1250" dirty="0">
                <a:solidFill>
                  <a:srgbClr val="64748B"/>
                </a:solidFill>
              </a:rPr>
              <a:t>Activity diagram giúp chứng minh hệ thống có xử lý điều kiện, trạng thái và lỗi ở từng giai đoạn chứ không chỉ thêm/sửa/xóa dữ liệu.</a:t>
            </a:r>
            <a:endParaRPr lang="en-US" sz="1250" dirty="0"/>
          </a:p>
        </p:txBody>
      </p:sp>
      <p:sp>
        <p:nvSpPr>
          <p:cNvPr id="28" name="Shape 25"/>
          <p:cNvSpPr/>
          <p:nvPr/>
        </p:nvSpPr>
        <p:spPr>
          <a:xfrm>
            <a:off x="594360" y="6473952"/>
            <a:ext cx="11018520" cy="0"/>
          </a:xfrm>
          <a:prstGeom prst="line">
            <a:avLst/>
          </a:prstGeom>
          <a:noFill/>
          <a:ln w="10160">
            <a:solidFill>
              <a:srgbClr val="D8E4F7"/>
            </a:solidFill>
            <a:prstDash val="solid"/>
          </a:ln>
        </p:spPr>
      </p:sp>
      <p:sp>
        <p:nvSpPr>
          <p:cNvPr id="29" name="Text 26"/>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0" name="Text 27"/>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03 · THIẾT KẾ</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Kiến trúc hệ thống &amp; công nghệ sử dụng</a:t>
            </a:r>
            <a:endParaRPr lang="en-US" sz="2700" dirty="0"/>
          </a:p>
        </p:txBody>
      </p:sp>
      <p:sp>
        <p:nvSpPr>
          <p:cNvPr id="5" name="Shape 3"/>
          <p:cNvSpPr/>
          <p:nvPr/>
        </p:nvSpPr>
        <p:spPr>
          <a:xfrm>
            <a:off x="868680" y="1828800"/>
            <a:ext cx="2926080" cy="1874520"/>
          </a:xfrm>
          <a:prstGeom prst="roundRect">
            <a:avLst>
              <a:gd name="adj" fmla="val 8293"/>
            </a:avLst>
          </a:prstGeom>
          <a:solidFill>
            <a:srgbClr val="FFFFFF"/>
          </a:solidFill>
          <a:ln w="12700">
            <a:solidFill>
              <a:srgbClr val="D8E4F7"/>
            </a:solidFill>
            <a:prstDash val="solid"/>
          </a:ln>
        </p:spPr>
      </p:sp>
      <p:sp>
        <p:nvSpPr>
          <p:cNvPr id="6" name="Shape 4"/>
          <p:cNvSpPr/>
          <p:nvPr/>
        </p:nvSpPr>
        <p:spPr>
          <a:xfrm>
            <a:off x="1097280" y="2148840"/>
            <a:ext cx="502920" cy="502920"/>
          </a:xfrm>
          <a:prstGeom prst="ellipse">
            <a:avLst/>
          </a:prstGeom>
          <a:solidFill>
            <a:srgbClr val="0B4FD8"/>
          </a:solidFill>
          <a:ln w="12700">
            <a:solidFill>
              <a:srgbClr val="0B4FD8">
                <a:alpha val="0"/>
              </a:srgbClr>
            </a:solidFill>
            <a:prstDash val="solid"/>
          </a:ln>
        </p:spPr>
      </p:sp>
      <p:sp>
        <p:nvSpPr>
          <p:cNvPr id="7" name="Text 5"/>
          <p:cNvSpPr/>
          <p:nvPr/>
        </p:nvSpPr>
        <p:spPr>
          <a:xfrm>
            <a:off x="1097280" y="2295144"/>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Text 6"/>
          <p:cNvSpPr/>
          <p:nvPr/>
        </p:nvSpPr>
        <p:spPr>
          <a:xfrm>
            <a:off x="1737360" y="2075688"/>
            <a:ext cx="1645920"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Presentation layer</a:t>
            </a:r>
            <a:endParaRPr lang="en-US" sz="1550" dirty="0"/>
          </a:p>
        </p:txBody>
      </p:sp>
      <p:sp>
        <p:nvSpPr>
          <p:cNvPr id="9" name="Text 7"/>
          <p:cNvSpPr/>
          <p:nvPr/>
        </p:nvSpPr>
        <p:spPr>
          <a:xfrm>
            <a:off x="1188720" y="2788920"/>
            <a:ext cx="2331720" cy="548640"/>
          </a:xfrm>
          <a:prstGeom prst="rect">
            <a:avLst/>
          </a:prstGeom>
          <a:noFill/>
          <a:ln/>
        </p:spPr>
        <p:txBody>
          <a:bodyPr wrap="square" lIns="0" tIns="0" rIns="0" bIns="0" rtlCol="0" anchor="ctr">
            <a:normAutofit/>
          </a:bodyPr>
          <a:lstStyle/>
          <a:p>
            <a:pPr algn="ctr" indent="0" marL="0">
              <a:buNone/>
            </a:pPr>
            <a:r>
              <a:rPr lang="en-US" sz="1150" dirty="0">
                <a:solidFill>
                  <a:srgbClr val="64748B"/>
                </a:solidFill>
              </a:rPr>
              <a:t>Next.js/React/TypeScript</a:t>
            </a:r>
            <a:endParaRPr lang="en-US" sz="1150" dirty="0"/>
          </a:p>
          <a:p>
            <a:pPr algn="ctr" indent="0" marL="0">
              <a:buNone/>
            </a:pPr>
            <a:r>
              <a:rPr lang="en-US" sz="1150" dirty="0">
                <a:solidFill>
                  <a:srgbClr val="64748B"/>
                </a:solidFill>
              </a:rPr>
              <a:t>hoặc giao diện tĩnh nhúng Spring Boot</a:t>
            </a:r>
            <a:endParaRPr lang="en-US" sz="1150" dirty="0"/>
          </a:p>
        </p:txBody>
      </p:sp>
      <p:sp>
        <p:nvSpPr>
          <p:cNvPr id="10" name="Shape 8"/>
          <p:cNvSpPr/>
          <p:nvPr/>
        </p:nvSpPr>
        <p:spPr>
          <a:xfrm>
            <a:off x="3813048" y="2761488"/>
            <a:ext cx="438912" cy="0"/>
          </a:xfrm>
          <a:prstGeom prst="line">
            <a:avLst/>
          </a:prstGeom>
          <a:noFill/>
          <a:ln w="27940">
            <a:solidFill>
              <a:srgbClr val="2563EB"/>
            </a:solidFill>
            <a:prstDash val="solid"/>
            <a:headEnd type="none"/>
            <a:tailEnd type="triangle"/>
          </a:ln>
        </p:spPr>
      </p:sp>
      <p:sp>
        <p:nvSpPr>
          <p:cNvPr id="11" name="Shape 9"/>
          <p:cNvSpPr/>
          <p:nvPr/>
        </p:nvSpPr>
        <p:spPr>
          <a:xfrm>
            <a:off x="4343400" y="1828800"/>
            <a:ext cx="2926080" cy="1874520"/>
          </a:xfrm>
          <a:prstGeom prst="roundRect">
            <a:avLst>
              <a:gd name="adj" fmla="val 8293"/>
            </a:avLst>
          </a:prstGeom>
          <a:solidFill>
            <a:srgbClr val="FFFFFF"/>
          </a:solidFill>
          <a:ln w="12700">
            <a:solidFill>
              <a:srgbClr val="D8E4F7"/>
            </a:solidFill>
            <a:prstDash val="solid"/>
          </a:ln>
        </p:spPr>
      </p:sp>
      <p:sp>
        <p:nvSpPr>
          <p:cNvPr id="12" name="Shape 10"/>
          <p:cNvSpPr/>
          <p:nvPr/>
        </p:nvSpPr>
        <p:spPr>
          <a:xfrm>
            <a:off x="4572000" y="2148840"/>
            <a:ext cx="502920" cy="502920"/>
          </a:xfrm>
          <a:prstGeom prst="ellipse">
            <a:avLst/>
          </a:prstGeom>
          <a:solidFill>
            <a:srgbClr val="F97316"/>
          </a:solidFill>
          <a:ln w="12700">
            <a:solidFill>
              <a:srgbClr val="F97316">
                <a:alpha val="0"/>
              </a:srgbClr>
            </a:solidFill>
            <a:prstDash val="solid"/>
          </a:ln>
        </p:spPr>
      </p:sp>
      <p:sp>
        <p:nvSpPr>
          <p:cNvPr id="13" name="Text 11"/>
          <p:cNvSpPr/>
          <p:nvPr/>
        </p:nvSpPr>
        <p:spPr>
          <a:xfrm>
            <a:off x="4572000" y="2295144"/>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4" name="Text 12"/>
          <p:cNvSpPr/>
          <p:nvPr/>
        </p:nvSpPr>
        <p:spPr>
          <a:xfrm>
            <a:off x="5212080" y="2075688"/>
            <a:ext cx="1645920"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Application layer</a:t>
            </a:r>
            <a:endParaRPr lang="en-US" sz="1550" dirty="0"/>
          </a:p>
        </p:txBody>
      </p:sp>
      <p:sp>
        <p:nvSpPr>
          <p:cNvPr id="15" name="Text 13"/>
          <p:cNvSpPr/>
          <p:nvPr/>
        </p:nvSpPr>
        <p:spPr>
          <a:xfrm>
            <a:off x="4663440" y="2788920"/>
            <a:ext cx="2331720" cy="548640"/>
          </a:xfrm>
          <a:prstGeom prst="rect">
            <a:avLst/>
          </a:prstGeom>
          <a:noFill/>
          <a:ln/>
        </p:spPr>
        <p:txBody>
          <a:bodyPr wrap="square" lIns="0" tIns="0" rIns="0" bIns="0" rtlCol="0" anchor="ctr">
            <a:normAutofit/>
          </a:bodyPr>
          <a:lstStyle/>
          <a:p>
            <a:pPr algn="ctr" indent="0" marL="0">
              <a:buNone/>
            </a:pPr>
            <a:r>
              <a:rPr lang="en-US" sz="1150" dirty="0">
                <a:solidFill>
                  <a:srgbClr val="64748B"/>
                </a:solidFill>
              </a:rPr>
              <a:t>Controller → Service → Security</a:t>
            </a:r>
            <a:endParaRPr lang="en-US" sz="1150" dirty="0"/>
          </a:p>
          <a:p>
            <a:pPr algn="ctr" indent="0" marL="0">
              <a:buNone/>
            </a:pPr>
            <a:r>
              <a:rPr lang="en-US" sz="1150" dirty="0">
                <a:solidFill>
                  <a:srgbClr val="64748B"/>
                </a:solidFill>
              </a:rPr>
              <a:t>RankingService · AuditService · JWT Filter</a:t>
            </a:r>
            <a:endParaRPr lang="en-US" sz="1150" dirty="0"/>
          </a:p>
        </p:txBody>
      </p:sp>
      <p:sp>
        <p:nvSpPr>
          <p:cNvPr id="16" name="Shape 14"/>
          <p:cNvSpPr/>
          <p:nvPr/>
        </p:nvSpPr>
        <p:spPr>
          <a:xfrm>
            <a:off x="7287768" y="2761488"/>
            <a:ext cx="438912" cy="0"/>
          </a:xfrm>
          <a:prstGeom prst="line">
            <a:avLst/>
          </a:prstGeom>
          <a:noFill/>
          <a:ln w="27940">
            <a:solidFill>
              <a:srgbClr val="2563EB"/>
            </a:solidFill>
            <a:prstDash val="solid"/>
            <a:headEnd type="none"/>
            <a:tailEnd type="triangle"/>
          </a:ln>
        </p:spPr>
      </p:sp>
      <p:sp>
        <p:nvSpPr>
          <p:cNvPr id="17" name="Shape 15"/>
          <p:cNvSpPr/>
          <p:nvPr/>
        </p:nvSpPr>
        <p:spPr>
          <a:xfrm>
            <a:off x="7818120" y="1828800"/>
            <a:ext cx="2926080" cy="1874520"/>
          </a:xfrm>
          <a:prstGeom prst="roundRect">
            <a:avLst>
              <a:gd name="adj" fmla="val 8293"/>
            </a:avLst>
          </a:prstGeom>
          <a:solidFill>
            <a:srgbClr val="FFFFFF"/>
          </a:solidFill>
          <a:ln w="12700">
            <a:solidFill>
              <a:srgbClr val="D8E4F7"/>
            </a:solidFill>
            <a:prstDash val="solid"/>
          </a:ln>
        </p:spPr>
      </p:sp>
      <p:sp>
        <p:nvSpPr>
          <p:cNvPr id="18" name="Shape 16"/>
          <p:cNvSpPr/>
          <p:nvPr/>
        </p:nvSpPr>
        <p:spPr>
          <a:xfrm>
            <a:off x="8046720" y="2148840"/>
            <a:ext cx="502920" cy="502920"/>
          </a:xfrm>
          <a:prstGeom prst="ellipse">
            <a:avLst/>
          </a:prstGeom>
          <a:solidFill>
            <a:srgbClr val="14B8A6"/>
          </a:solidFill>
          <a:ln w="12700">
            <a:solidFill>
              <a:srgbClr val="14B8A6">
                <a:alpha val="0"/>
              </a:srgbClr>
            </a:solidFill>
            <a:prstDash val="solid"/>
          </a:ln>
        </p:spPr>
      </p:sp>
      <p:sp>
        <p:nvSpPr>
          <p:cNvPr id="19" name="Text 17"/>
          <p:cNvSpPr/>
          <p:nvPr/>
        </p:nvSpPr>
        <p:spPr>
          <a:xfrm>
            <a:off x="8046720" y="2295144"/>
            <a:ext cx="502920" cy="109728"/>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20" name="Text 18"/>
          <p:cNvSpPr/>
          <p:nvPr/>
        </p:nvSpPr>
        <p:spPr>
          <a:xfrm>
            <a:off x="8686800" y="2075688"/>
            <a:ext cx="1645920" cy="256032"/>
          </a:xfrm>
          <a:prstGeom prst="rect">
            <a:avLst/>
          </a:prstGeom>
          <a:noFill/>
          <a:ln/>
        </p:spPr>
        <p:txBody>
          <a:bodyPr wrap="square" lIns="0" tIns="0" rIns="0" bIns="0" rtlCol="0" anchor="ctr">
            <a:normAutofit/>
          </a:bodyPr>
          <a:lstStyle/>
          <a:p>
            <a:pPr indent="0" marL="0">
              <a:buNone/>
            </a:pPr>
            <a:r>
              <a:rPr lang="en-US" sz="1550" b="1" dirty="0">
                <a:solidFill>
                  <a:srgbClr val="0F172A"/>
                </a:solidFill>
              </a:rPr>
              <a:t>Data layer</a:t>
            </a:r>
            <a:endParaRPr lang="en-US" sz="1550" dirty="0"/>
          </a:p>
        </p:txBody>
      </p:sp>
      <p:sp>
        <p:nvSpPr>
          <p:cNvPr id="21" name="Text 19"/>
          <p:cNvSpPr/>
          <p:nvPr/>
        </p:nvSpPr>
        <p:spPr>
          <a:xfrm>
            <a:off x="8138160" y="2788920"/>
            <a:ext cx="2331720" cy="548640"/>
          </a:xfrm>
          <a:prstGeom prst="rect">
            <a:avLst/>
          </a:prstGeom>
          <a:noFill/>
          <a:ln/>
        </p:spPr>
        <p:txBody>
          <a:bodyPr wrap="square" lIns="0" tIns="0" rIns="0" bIns="0" rtlCol="0" anchor="ctr">
            <a:normAutofit/>
          </a:bodyPr>
          <a:lstStyle/>
          <a:p>
            <a:pPr algn="ctr" indent="0" marL="0">
              <a:buNone/>
            </a:pPr>
            <a:r>
              <a:rPr lang="en-US" sz="1150" dirty="0">
                <a:solidFill>
                  <a:srgbClr val="64748B"/>
                </a:solidFill>
              </a:rPr>
              <a:t>Repository · JPA/Hibernate</a:t>
            </a:r>
            <a:endParaRPr lang="en-US" sz="1150" dirty="0"/>
          </a:p>
          <a:p>
            <a:pPr algn="ctr" indent="0" marL="0">
              <a:buNone/>
            </a:pPr>
            <a:r>
              <a:rPr lang="en-US" sz="1150" dirty="0">
                <a:solidFill>
                  <a:srgbClr val="64748B"/>
                </a:solidFill>
              </a:rPr>
              <a:t>H2 demo · SQL Server/MySQL tùy chọn</a:t>
            </a:r>
            <a:endParaRPr lang="en-US" sz="1150" dirty="0"/>
          </a:p>
        </p:txBody>
      </p:sp>
      <p:sp>
        <p:nvSpPr>
          <p:cNvPr id="22" name="Text 20"/>
          <p:cNvSpPr/>
          <p:nvPr/>
        </p:nvSpPr>
        <p:spPr>
          <a:xfrm>
            <a:off x="914400" y="4251960"/>
            <a:ext cx="9966960" cy="292608"/>
          </a:xfrm>
          <a:prstGeom prst="rect">
            <a:avLst/>
          </a:prstGeom>
          <a:noFill/>
          <a:ln/>
        </p:spPr>
        <p:txBody>
          <a:bodyPr wrap="square" lIns="0" tIns="0" rIns="0" bIns="0" rtlCol="0" anchor="ctr"/>
          <a:lstStyle/>
          <a:p>
            <a:pPr algn="ctr" indent="0" marL="0">
              <a:buNone/>
            </a:pPr>
            <a:r>
              <a:rPr lang="en-US" sz="1600" b="1" dirty="0">
                <a:solidFill>
                  <a:srgbClr val="0B4FD8"/>
                </a:solidFill>
              </a:rPr>
              <a:t>Chuẩn giao tiếp: RESTful API · JSON · Swagger/OpenAPI · stateless authentication bằng JWT.</a:t>
            </a:r>
            <a:endParaRPr lang="en-US" sz="1600" dirty="0"/>
          </a:p>
        </p:txBody>
      </p:sp>
      <p:sp>
        <p:nvSpPr>
          <p:cNvPr id="23" name="Shape 21"/>
          <p:cNvSpPr/>
          <p:nvPr/>
        </p:nvSpPr>
        <p:spPr>
          <a:xfrm>
            <a:off x="1097280" y="4892040"/>
            <a:ext cx="9875520" cy="749808"/>
          </a:xfrm>
          <a:prstGeom prst="roundRect">
            <a:avLst>
              <a:gd name="adj" fmla="val 18293"/>
            </a:avLst>
          </a:prstGeom>
          <a:solidFill>
            <a:srgbClr val="EAF2FF"/>
          </a:solidFill>
          <a:ln w="12700">
            <a:solidFill>
              <a:srgbClr val="EAF2FF"/>
            </a:solidFill>
            <a:prstDash val="solid"/>
          </a:ln>
        </p:spPr>
      </p:sp>
      <p:sp>
        <p:nvSpPr>
          <p:cNvPr id="24" name="Text 22"/>
          <p:cNvSpPr/>
          <p:nvPr/>
        </p:nvSpPr>
        <p:spPr>
          <a:xfrm>
            <a:off x="1417320" y="5120640"/>
            <a:ext cx="9235440" cy="201168"/>
          </a:xfrm>
          <a:prstGeom prst="rect">
            <a:avLst/>
          </a:prstGeom>
          <a:noFill/>
          <a:ln/>
        </p:spPr>
        <p:txBody>
          <a:bodyPr wrap="square" lIns="0" tIns="0" rIns="0" bIns="0" rtlCol="0" anchor="ctr">
            <a:normAutofit/>
          </a:bodyPr>
          <a:lstStyle/>
          <a:p>
            <a:pPr algn="ctr" indent="0" marL="0">
              <a:buNone/>
            </a:pPr>
            <a:r>
              <a:rPr lang="en-US" sz="1350" dirty="0">
                <a:solidFill>
                  <a:srgbClr val="0F172A"/>
                </a:solidFill>
              </a:rPr>
              <a:t>Lợi ích thiết kế: tách giao diện – nghiệp vụ – dữ liệu, dễ kiểm thử, dễ thay cơ sở dữ liệu và đủ linh hoạt cho demo nhanh hoặc phát triển mở rộng.</a:t>
            </a:r>
            <a:endParaRPr lang="en-US" sz="1350" dirty="0"/>
          </a:p>
        </p:txBody>
      </p:sp>
      <p:sp>
        <p:nvSpPr>
          <p:cNvPr id="25" name="Shape 23"/>
          <p:cNvSpPr/>
          <p:nvPr/>
        </p:nvSpPr>
        <p:spPr>
          <a:xfrm>
            <a:off x="594360" y="6473952"/>
            <a:ext cx="11018520" cy="0"/>
          </a:xfrm>
          <a:prstGeom prst="line">
            <a:avLst/>
          </a:prstGeom>
          <a:noFill/>
          <a:ln w="10160">
            <a:solidFill>
              <a:srgbClr val="D8E4F7"/>
            </a:solidFill>
            <a:prstDash val="solid"/>
          </a:ln>
        </p:spPr>
      </p:sp>
      <p:sp>
        <p:nvSpPr>
          <p:cNvPr id="26" name="Text 24"/>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27" name="Text 25"/>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03 · THIẾT KẾ</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Thiết kế cơ sở dữ liệu</a:t>
            </a:r>
            <a:endParaRPr lang="en-US" sz="2700" dirty="0"/>
          </a:p>
        </p:txBody>
      </p:sp>
      <p:pic>
        <p:nvPicPr>
          <p:cNvPr id="5" name="Image 0" descr="/mnt/data/docx_media/image5.png">    </p:cNvPr>
          <p:cNvPicPr>
            <a:picLocks noChangeAspect="1"/>
          </p:cNvPicPr>
          <p:nvPr/>
        </p:nvPicPr>
        <p:blipFill>
          <a:blip r:embed="rId1"/>
          <a:stretch>
            <a:fillRect/>
          </a:stretch>
        </p:blipFill>
        <p:spPr>
          <a:xfrm>
            <a:off x="685800" y="1199567"/>
            <a:ext cx="4937760" cy="3443882"/>
          </a:xfrm>
          <a:prstGeom prst="rect">
            <a:avLst/>
          </a:prstGeom>
        </p:spPr>
      </p:pic>
      <p:sp>
        <p:nvSpPr>
          <p:cNvPr id="6" name="Text 3"/>
          <p:cNvSpPr/>
          <p:nvPr/>
        </p:nvSpPr>
        <p:spPr>
          <a:xfrm>
            <a:off x="914400" y="4773168"/>
            <a:ext cx="4389120" cy="219456"/>
          </a:xfrm>
          <a:prstGeom prst="rect">
            <a:avLst/>
          </a:prstGeom>
          <a:noFill/>
          <a:ln/>
        </p:spPr>
        <p:txBody>
          <a:bodyPr wrap="square" lIns="0" tIns="0" rIns="0" bIns="0" rtlCol="0" anchor="ctr"/>
          <a:lstStyle/>
          <a:p>
            <a:pPr algn="ctr" indent="0" marL="0">
              <a:buNone/>
            </a:pPr>
            <a:r>
              <a:rPr lang="en-US" sz="1000" b="1" dirty="0">
                <a:solidFill>
                  <a:srgbClr val="64748B"/>
                </a:solidFill>
              </a:rPr>
              <a:t>ERD</a:t>
            </a:r>
            <a:endParaRPr lang="en-US" sz="1000" dirty="0"/>
          </a:p>
        </p:txBody>
      </p:sp>
      <p:pic>
        <p:nvPicPr>
          <p:cNvPr id="7" name="Image 1" descr="/mnt/data/docx_media/image4.png">    </p:cNvPr>
          <p:cNvPicPr>
            <a:picLocks noChangeAspect="1"/>
          </p:cNvPicPr>
          <p:nvPr/>
        </p:nvPicPr>
        <p:blipFill>
          <a:blip r:embed="rId2"/>
          <a:stretch>
            <a:fillRect/>
          </a:stretch>
        </p:blipFill>
        <p:spPr>
          <a:xfrm>
            <a:off x="6906054" y="1115568"/>
            <a:ext cx="3698652" cy="3611880"/>
          </a:xfrm>
          <a:prstGeom prst="rect">
            <a:avLst/>
          </a:prstGeom>
        </p:spPr>
      </p:pic>
      <p:sp>
        <p:nvSpPr>
          <p:cNvPr id="8" name="Text 4"/>
          <p:cNvSpPr/>
          <p:nvPr/>
        </p:nvSpPr>
        <p:spPr>
          <a:xfrm>
            <a:off x="6400800" y="4773168"/>
            <a:ext cx="4663440" cy="219456"/>
          </a:xfrm>
          <a:prstGeom prst="rect">
            <a:avLst/>
          </a:prstGeom>
          <a:noFill/>
          <a:ln/>
        </p:spPr>
        <p:txBody>
          <a:bodyPr wrap="square" lIns="0" tIns="0" rIns="0" bIns="0" rtlCol="0" anchor="ctr"/>
          <a:lstStyle/>
          <a:p>
            <a:pPr algn="ctr" indent="0" marL="0">
              <a:buNone/>
            </a:pPr>
            <a:r>
              <a:rPr lang="en-US" sz="1000" b="1" dirty="0">
                <a:solidFill>
                  <a:srgbClr val="64748B"/>
                </a:solidFill>
              </a:rPr>
              <a:t>Class Diagram / Entity mapping</a:t>
            </a:r>
            <a:endParaRPr lang="en-US" sz="1000" dirty="0"/>
          </a:p>
        </p:txBody>
      </p:sp>
      <p:sp>
        <p:nvSpPr>
          <p:cNvPr id="9" name="Shape 5"/>
          <p:cNvSpPr/>
          <p:nvPr/>
        </p:nvSpPr>
        <p:spPr>
          <a:xfrm>
            <a:off x="914400" y="5212080"/>
            <a:ext cx="10241280" cy="658368"/>
          </a:xfrm>
          <a:prstGeom prst="roundRect">
            <a:avLst>
              <a:gd name="adj" fmla="val 16667"/>
            </a:avLst>
          </a:prstGeom>
          <a:solidFill>
            <a:srgbClr val="FFFFFF"/>
          </a:solidFill>
          <a:ln w="12700">
            <a:solidFill>
              <a:srgbClr val="D8E4F7"/>
            </a:solidFill>
            <a:prstDash val="solid"/>
          </a:ln>
        </p:spPr>
      </p:sp>
      <p:sp>
        <p:nvSpPr>
          <p:cNvPr id="10" name="Text 6"/>
          <p:cNvSpPr/>
          <p:nvPr/>
        </p:nvSpPr>
        <p:spPr>
          <a:xfrm>
            <a:off x="1170432" y="5413248"/>
            <a:ext cx="9692640" cy="237744"/>
          </a:xfrm>
          <a:prstGeom prst="rect">
            <a:avLst/>
          </a:prstGeom>
          <a:noFill/>
          <a:ln/>
        </p:spPr>
        <p:txBody>
          <a:bodyPr wrap="square" lIns="0" tIns="0" rIns="0" bIns="0" rtlCol="0" anchor="ctr">
            <a:normAutofit/>
          </a:bodyPr>
          <a:lstStyle/>
          <a:p>
            <a:pPr indent="0" marL="0">
              <a:buNone/>
            </a:pPr>
            <a:r>
              <a:rPr lang="en-US" sz="1250" dirty="0">
                <a:solidFill>
                  <a:srgbClr val="64748B"/>
                </a:solidFill>
              </a:rPr>
              <a:t>Nhóm bảng cốt lõi: AppUser, HackathonEvent, Track, HackathonRound, Team/TeamMember, Submission, JudgeAssignment, Score, RoundResult, Prize, Announcement, AuditLog.</a:t>
            </a:r>
            <a:endParaRPr lang="en-US" sz="1250" dirty="0"/>
          </a:p>
        </p:txBody>
      </p:sp>
      <p:sp>
        <p:nvSpPr>
          <p:cNvPr id="11" name="Shape 7"/>
          <p:cNvSpPr/>
          <p:nvPr/>
        </p:nvSpPr>
        <p:spPr>
          <a:xfrm>
            <a:off x="3383280" y="5989320"/>
            <a:ext cx="5440680" cy="320040"/>
          </a:xfrm>
          <a:prstGeom prst="roundRect">
            <a:avLst>
              <a:gd name="adj" fmla="val 22857"/>
            </a:avLst>
          </a:prstGeom>
          <a:solidFill>
            <a:srgbClr val="EAF2FF"/>
          </a:solidFill>
          <a:ln w="12700">
            <a:solidFill>
              <a:srgbClr val="EAF2FF">
                <a:alpha val="0"/>
              </a:srgbClr>
            </a:solidFill>
            <a:prstDash val="solid"/>
          </a:ln>
        </p:spPr>
      </p:sp>
      <p:sp>
        <p:nvSpPr>
          <p:cNvPr id="12" name="Text 8"/>
          <p:cNvSpPr/>
          <p:nvPr/>
        </p:nvSpPr>
        <p:spPr>
          <a:xfrm>
            <a:off x="3456432" y="6062472"/>
            <a:ext cx="5294376" cy="146304"/>
          </a:xfrm>
          <a:prstGeom prst="rect">
            <a:avLst/>
          </a:prstGeom>
          <a:noFill/>
          <a:ln/>
        </p:spPr>
        <p:txBody>
          <a:bodyPr wrap="square" lIns="0" tIns="0" rIns="0" bIns="0" rtlCol="0" anchor="ctr"/>
          <a:lstStyle/>
          <a:p>
            <a:pPr algn="ctr" indent="0" marL="0">
              <a:buNone/>
            </a:pPr>
            <a:r>
              <a:rPr lang="en-US" sz="750" b="1" dirty="0">
                <a:solidFill>
                  <a:srgbClr val="0B4FD8"/>
                </a:solidFill>
              </a:rPr>
              <a:t>Thiết kế quan trọng: Score lưu riêng theo judge · criterion · submission</a:t>
            </a:r>
            <a:endParaRPr lang="en-US" sz="750" dirty="0"/>
          </a:p>
        </p:txBody>
      </p:sp>
      <p:sp>
        <p:nvSpPr>
          <p:cNvPr id="13" name="Shape 9"/>
          <p:cNvSpPr/>
          <p:nvPr/>
        </p:nvSpPr>
        <p:spPr>
          <a:xfrm>
            <a:off x="594360" y="6473952"/>
            <a:ext cx="11018520" cy="0"/>
          </a:xfrm>
          <a:prstGeom prst="line">
            <a:avLst/>
          </a:prstGeom>
          <a:noFill/>
          <a:ln w="10160">
            <a:solidFill>
              <a:srgbClr val="D8E4F7"/>
            </a:solidFill>
            <a:prstDash val="solid"/>
          </a:ln>
        </p:spPr>
      </p:sp>
      <p:sp>
        <p:nvSpPr>
          <p:cNvPr id="14" name="Text 10"/>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15" name="Text 11"/>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04 · TRIỂN KHAI</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Các module nghiệp vụ trên dashboard</a:t>
            </a:r>
            <a:endParaRPr lang="en-US" sz="2700" dirty="0"/>
          </a:p>
        </p:txBody>
      </p:sp>
      <p:sp>
        <p:nvSpPr>
          <p:cNvPr id="5" name="Shape 3"/>
          <p:cNvSpPr/>
          <p:nvPr/>
        </p:nvSpPr>
        <p:spPr>
          <a:xfrm>
            <a:off x="777240" y="1143000"/>
            <a:ext cx="5074920" cy="713232"/>
          </a:xfrm>
          <a:prstGeom prst="roundRect">
            <a:avLst>
              <a:gd name="adj" fmla="val 15385"/>
            </a:avLst>
          </a:prstGeom>
          <a:solidFill>
            <a:srgbClr val="FFFFFF"/>
          </a:solidFill>
          <a:ln w="12700">
            <a:solidFill>
              <a:srgbClr val="D8E4F7"/>
            </a:solidFill>
            <a:prstDash val="solid"/>
          </a:ln>
        </p:spPr>
      </p:sp>
      <p:sp>
        <p:nvSpPr>
          <p:cNvPr id="6" name="Shape 4"/>
          <p:cNvSpPr/>
          <p:nvPr/>
        </p:nvSpPr>
        <p:spPr>
          <a:xfrm>
            <a:off x="777240" y="1143000"/>
            <a:ext cx="73152" cy="713232"/>
          </a:xfrm>
          <a:prstGeom prst="rect">
            <a:avLst/>
          </a:prstGeom>
          <a:solidFill>
            <a:srgbClr val="0B4FD8"/>
          </a:solidFill>
          <a:ln w="12700">
            <a:solidFill>
              <a:srgbClr val="0B4FD8">
                <a:alpha val="0"/>
              </a:srgbClr>
            </a:solidFill>
            <a:prstDash val="solid"/>
          </a:ln>
        </p:spPr>
      </p:sp>
      <p:sp>
        <p:nvSpPr>
          <p:cNvPr id="7" name="Text 5"/>
          <p:cNvSpPr/>
          <p:nvPr/>
        </p:nvSpPr>
        <p:spPr>
          <a:xfrm>
            <a:off x="1005840" y="134416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Sự kiện &amp; vòng thi</a:t>
            </a:r>
            <a:endParaRPr lang="en-US" sz="1200" dirty="0"/>
          </a:p>
        </p:txBody>
      </p:sp>
      <p:sp>
        <p:nvSpPr>
          <p:cNvPr id="8" name="Text 6"/>
          <p:cNvSpPr/>
          <p:nvPr/>
        </p:nvSpPr>
        <p:spPr>
          <a:xfrm>
            <a:off x="1005840" y="170992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Tạo mùa thi, vòng hiệu chuẩn, sơ khảo, chung kết, hạn nộp, Top N.</a:t>
            </a:r>
            <a:endParaRPr lang="en-US" sz="1050" dirty="0"/>
          </a:p>
        </p:txBody>
      </p:sp>
      <p:sp>
        <p:nvSpPr>
          <p:cNvPr id="9" name="Shape 7"/>
          <p:cNvSpPr/>
          <p:nvPr/>
        </p:nvSpPr>
        <p:spPr>
          <a:xfrm>
            <a:off x="777240" y="2103120"/>
            <a:ext cx="5074920" cy="713232"/>
          </a:xfrm>
          <a:prstGeom prst="roundRect">
            <a:avLst>
              <a:gd name="adj" fmla="val 15385"/>
            </a:avLst>
          </a:prstGeom>
          <a:solidFill>
            <a:srgbClr val="FFFFFF"/>
          </a:solidFill>
          <a:ln w="12700">
            <a:solidFill>
              <a:srgbClr val="D8E4F7"/>
            </a:solidFill>
            <a:prstDash val="solid"/>
          </a:ln>
        </p:spPr>
      </p:sp>
      <p:sp>
        <p:nvSpPr>
          <p:cNvPr id="10" name="Shape 8"/>
          <p:cNvSpPr/>
          <p:nvPr/>
        </p:nvSpPr>
        <p:spPr>
          <a:xfrm>
            <a:off x="777240" y="2103120"/>
            <a:ext cx="73152" cy="713232"/>
          </a:xfrm>
          <a:prstGeom prst="rect">
            <a:avLst/>
          </a:prstGeom>
          <a:solidFill>
            <a:srgbClr val="14B8A6"/>
          </a:solidFill>
          <a:ln w="12700">
            <a:solidFill>
              <a:srgbClr val="14B8A6">
                <a:alpha val="0"/>
              </a:srgbClr>
            </a:solidFill>
            <a:prstDash val="solid"/>
          </a:ln>
        </p:spPr>
      </p:sp>
      <p:sp>
        <p:nvSpPr>
          <p:cNvPr id="11" name="Text 9"/>
          <p:cNvSpPr/>
          <p:nvPr/>
        </p:nvSpPr>
        <p:spPr>
          <a:xfrm>
            <a:off x="1005840" y="230428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Track &amp; mentor</a:t>
            </a:r>
            <a:endParaRPr lang="en-US" sz="1200" dirty="0"/>
          </a:p>
        </p:txBody>
      </p:sp>
      <p:sp>
        <p:nvSpPr>
          <p:cNvPr id="12" name="Text 10"/>
          <p:cNvSpPr/>
          <p:nvPr/>
        </p:nvSpPr>
        <p:spPr>
          <a:xfrm>
            <a:off x="1005840" y="267004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Quản lý hạng mục, phân công mentor theo track.</a:t>
            </a:r>
            <a:endParaRPr lang="en-US" sz="1050" dirty="0"/>
          </a:p>
        </p:txBody>
      </p:sp>
      <p:sp>
        <p:nvSpPr>
          <p:cNvPr id="13" name="Shape 11"/>
          <p:cNvSpPr/>
          <p:nvPr/>
        </p:nvSpPr>
        <p:spPr>
          <a:xfrm>
            <a:off x="777240" y="3063240"/>
            <a:ext cx="5074920" cy="713232"/>
          </a:xfrm>
          <a:prstGeom prst="roundRect">
            <a:avLst>
              <a:gd name="adj" fmla="val 15385"/>
            </a:avLst>
          </a:prstGeom>
          <a:solidFill>
            <a:srgbClr val="FFFFFF"/>
          </a:solidFill>
          <a:ln w="12700">
            <a:solidFill>
              <a:srgbClr val="D8E4F7"/>
            </a:solidFill>
            <a:prstDash val="solid"/>
          </a:ln>
        </p:spPr>
      </p:sp>
      <p:sp>
        <p:nvSpPr>
          <p:cNvPr id="14" name="Shape 12"/>
          <p:cNvSpPr/>
          <p:nvPr/>
        </p:nvSpPr>
        <p:spPr>
          <a:xfrm>
            <a:off x="777240" y="3063240"/>
            <a:ext cx="73152" cy="713232"/>
          </a:xfrm>
          <a:prstGeom prst="rect">
            <a:avLst/>
          </a:prstGeom>
          <a:solidFill>
            <a:srgbClr val="F97316"/>
          </a:solidFill>
          <a:ln w="12700">
            <a:solidFill>
              <a:srgbClr val="F97316">
                <a:alpha val="0"/>
              </a:srgbClr>
            </a:solidFill>
            <a:prstDash val="solid"/>
          </a:ln>
        </p:spPr>
      </p:sp>
      <p:sp>
        <p:nvSpPr>
          <p:cNvPr id="15" name="Text 13"/>
          <p:cNvSpPr/>
          <p:nvPr/>
        </p:nvSpPr>
        <p:spPr>
          <a:xfrm>
            <a:off x="1005840" y="326440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Đội thi &amp; bài nộp</a:t>
            </a:r>
            <a:endParaRPr lang="en-US" sz="1200" dirty="0"/>
          </a:p>
        </p:txBody>
      </p:sp>
      <p:sp>
        <p:nvSpPr>
          <p:cNvPr id="16" name="Text 14"/>
          <p:cNvSpPr/>
          <p:nvPr/>
        </p:nvSpPr>
        <p:spPr>
          <a:xfrm>
            <a:off x="1005840" y="363016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Đội 3–5 thành viên, nộp URL repo/demo/report/slide.</a:t>
            </a:r>
            <a:endParaRPr lang="en-US" sz="1050" dirty="0"/>
          </a:p>
        </p:txBody>
      </p:sp>
      <p:sp>
        <p:nvSpPr>
          <p:cNvPr id="17" name="Shape 15"/>
          <p:cNvSpPr/>
          <p:nvPr/>
        </p:nvSpPr>
        <p:spPr>
          <a:xfrm>
            <a:off x="777240" y="4023360"/>
            <a:ext cx="5074920" cy="713232"/>
          </a:xfrm>
          <a:prstGeom prst="roundRect">
            <a:avLst>
              <a:gd name="adj" fmla="val 15385"/>
            </a:avLst>
          </a:prstGeom>
          <a:solidFill>
            <a:srgbClr val="FFFFFF"/>
          </a:solidFill>
          <a:ln w="12700">
            <a:solidFill>
              <a:srgbClr val="D8E4F7"/>
            </a:solidFill>
            <a:prstDash val="solid"/>
          </a:ln>
        </p:spPr>
      </p:sp>
      <p:sp>
        <p:nvSpPr>
          <p:cNvPr id="18" name="Shape 16"/>
          <p:cNvSpPr/>
          <p:nvPr/>
        </p:nvSpPr>
        <p:spPr>
          <a:xfrm>
            <a:off x="777240" y="4023360"/>
            <a:ext cx="73152" cy="713232"/>
          </a:xfrm>
          <a:prstGeom prst="rect">
            <a:avLst/>
          </a:prstGeom>
          <a:solidFill>
            <a:srgbClr val="10B981"/>
          </a:solidFill>
          <a:ln w="12700">
            <a:solidFill>
              <a:srgbClr val="10B981">
                <a:alpha val="0"/>
              </a:srgbClr>
            </a:solidFill>
            <a:prstDash val="solid"/>
          </a:ln>
        </p:spPr>
      </p:sp>
      <p:sp>
        <p:nvSpPr>
          <p:cNvPr id="19" name="Text 17"/>
          <p:cNvSpPr/>
          <p:nvPr/>
        </p:nvSpPr>
        <p:spPr>
          <a:xfrm>
            <a:off x="1005840" y="422452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Chấm điểm</a:t>
            </a:r>
            <a:endParaRPr lang="en-US" sz="1200" dirty="0"/>
          </a:p>
        </p:txBody>
      </p:sp>
      <p:sp>
        <p:nvSpPr>
          <p:cNvPr id="20" name="Text 18"/>
          <p:cNvSpPr/>
          <p:nvPr/>
        </p:nvSpPr>
        <p:spPr>
          <a:xfrm>
            <a:off x="1005840" y="459028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Phân công judge, chấm theo tiêu chí và trọng số.</a:t>
            </a:r>
            <a:endParaRPr lang="en-US" sz="1050" dirty="0"/>
          </a:p>
        </p:txBody>
      </p:sp>
      <p:sp>
        <p:nvSpPr>
          <p:cNvPr id="21" name="Shape 19"/>
          <p:cNvSpPr/>
          <p:nvPr/>
        </p:nvSpPr>
        <p:spPr>
          <a:xfrm>
            <a:off x="6355080" y="1143000"/>
            <a:ext cx="5074920" cy="713232"/>
          </a:xfrm>
          <a:prstGeom prst="roundRect">
            <a:avLst>
              <a:gd name="adj" fmla="val 15385"/>
            </a:avLst>
          </a:prstGeom>
          <a:solidFill>
            <a:srgbClr val="FFFFFF"/>
          </a:solidFill>
          <a:ln w="12700">
            <a:solidFill>
              <a:srgbClr val="D8E4F7"/>
            </a:solidFill>
            <a:prstDash val="solid"/>
          </a:ln>
        </p:spPr>
      </p:sp>
      <p:sp>
        <p:nvSpPr>
          <p:cNvPr id="22" name="Shape 20"/>
          <p:cNvSpPr/>
          <p:nvPr/>
        </p:nvSpPr>
        <p:spPr>
          <a:xfrm>
            <a:off x="6355080" y="1143000"/>
            <a:ext cx="73152" cy="713232"/>
          </a:xfrm>
          <a:prstGeom prst="rect">
            <a:avLst/>
          </a:prstGeom>
          <a:solidFill>
            <a:srgbClr val="EF4444"/>
          </a:solidFill>
          <a:ln w="12700">
            <a:solidFill>
              <a:srgbClr val="EF4444">
                <a:alpha val="0"/>
              </a:srgbClr>
            </a:solidFill>
            <a:prstDash val="solid"/>
          </a:ln>
        </p:spPr>
      </p:sp>
      <p:sp>
        <p:nvSpPr>
          <p:cNvPr id="23" name="Text 21"/>
          <p:cNvSpPr/>
          <p:nvPr/>
        </p:nvSpPr>
        <p:spPr>
          <a:xfrm>
            <a:off x="6583680" y="134416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Ranking &amp; giải thưởng</a:t>
            </a:r>
            <a:endParaRPr lang="en-US" sz="1200" dirty="0"/>
          </a:p>
        </p:txBody>
      </p:sp>
      <p:sp>
        <p:nvSpPr>
          <p:cNvPr id="24" name="Text 22"/>
          <p:cNvSpPr/>
          <p:nvPr/>
        </p:nvSpPr>
        <p:spPr>
          <a:xfrm>
            <a:off x="6583680" y="170992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Tính điểm, xếp hạng, xét thăng vòng, công bố giải.</a:t>
            </a:r>
            <a:endParaRPr lang="en-US" sz="1050" dirty="0"/>
          </a:p>
        </p:txBody>
      </p:sp>
      <p:sp>
        <p:nvSpPr>
          <p:cNvPr id="25" name="Shape 23"/>
          <p:cNvSpPr/>
          <p:nvPr/>
        </p:nvSpPr>
        <p:spPr>
          <a:xfrm>
            <a:off x="6355080" y="2103120"/>
            <a:ext cx="5074920" cy="713232"/>
          </a:xfrm>
          <a:prstGeom prst="roundRect">
            <a:avLst>
              <a:gd name="adj" fmla="val 15385"/>
            </a:avLst>
          </a:prstGeom>
          <a:solidFill>
            <a:srgbClr val="FFFFFF"/>
          </a:solidFill>
          <a:ln w="12700">
            <a:solidFill>
              <a:srgbClr val="D8E4F7"/>
            </a:solidFill>
            <a:prstDash val="solid"/>
          </a:ln>
        </p:spPr>
      </p:sp>
      <p:sp>
        <p:nvSpPr>
          <p:cNvPr id="26" name="Shape 24"/>
          <p:cNvSpPr/>
          <p:nvPr/>
        </p:nvSpPr>
        <p:spPr>
          <a:xfrm>
            <a:off x="6355080" y="2103120"/>
            <a:ext cx="73152" cy="713232"/>
          </a:xfrm>
          <a:prstGeom prst="rect">
            <a:avLst/>
          </a:prstGeom>
          <a:solidFill>
            <a:srgbClr val="64748B"/>
          </a:solidFill>
          <a:ln w="12700">
            <a:solidFill>
              <a:srgbClr val="64748B">
                <a:alpha val="0"/>
              </a:srgbClr>
            </a:solidFill>
            <a:prstDash val="solid"/>
          </a:ln>
        </p:spPr>
      </p:sp>
      <p:sp>
        <p:nvSpPr>
          <p:cNvPr id="27" name="Text 25"/>
          <p:cNvSpPr/>
          <p:nvPr/>
        </p:nvSpPr>
        <p:spPr>
          <a:xfrm>
            <a:off x="6583680" y="230428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Tài khoản &amp; audit</a:t>
            </a:r>
            <a:endParaRPr lang="en-US" sz="1200" dirty="0"/>
          </a:p>
        </p:txBody>
      </p:sp>
      <p:sp>
        <p:nvSpPr>
          <p:cNvPr id="28" name="Text 26"/>
          <p:cNvSpPr/>
          <p:nvPr/>
        </p:nvSpPr>
        <p:spPr>
          <a:xfrm>
            <a:off x="6583680" y="267004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Duyệt tài khoản, tạo nhân sự, ghi log thao tác nhạy cảm.</a:t>
            </a:r>
            <a:endParaRPr lang="en-US" sz="1050" dirty="0"/>
          </a:p>
        </p:txBody>
      </p:sp>
      <p:sp>
        <p:nvSpPr>
          <p:cNvPr id="29" name="Shape 27"/>
          <p:cNvSpPr/>
          <p:nvPr/>
        </p:nvSpPr>
        <p:spPr>
          <a:xfrm>
            <a:off x="6355080" y="3063240"/>
            <a:ext cx="5074920" cy="713232"/>
          </a:xfrm>
          <a:prstGeom prst="roundRect">
            <a:avLst>
              <a:gd name="adj" fmla="val 15385"/>
            </a:avLst>
          </a:prstGeom>
          <a:solidFill>
            <a:srgbClr val="FFFFFF"/>
          </a:solidFill>
          <a:ln w="12700">
            <a:solidFill>
              <a:srgbClr val="D8E4F7"/>
            </a:solidFill>
            <a:prstDash val="solid"/>
          </a:ln>
        </p:spPr>
      </p:sp>
      <p:sp>
        <p:nvSpPr>
          <p:cNvPr id="30" name="Shape 28"/>
          <p:cNvSpPr/>
          <p:nvPr/>
        </p:nvSpPr>
        <p:spPr>
          <a:xfrm>
            <a:off x="6355080" y="3063240"/>
            <a:ext cx="73152" cy="713232"/>
          </a:xfrm>
          <a:prstGeom prst="rect">
            <a:avLst/>
          </a:prstGeom>
          <a:solidFill>
            <a:srgbClr val="2563EB"/>
          </a:solidFill>
          <a:ln w="12700">
            <a:solidFill>
              <a:srgbClr val="2563EB">
                <a:alpha val="0"/>
              </a:srgbClr>
            </a:solidFill>
            <a:prstDash val="solid"/>
          </a:ln>
        </p:spPr>
      </p:sp>
      <p:sp>
        <p:nvSpPr>
          <p:cNvPr id="31" name="Text 29"/>
          <p:cNvSpPr/>
          <p:nvPr/>
        </p:nvSpPr>
        <p:spPr>
          <a:xfrm>
            <a:off x="6583680" y="3264408"/>
            <a:ext cx="470916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RBL</a:t>
            </a:r>
            <a:endParaRPr lang="en-US" sz="1200" dirty="0"/>
          </a:p>
        </p:txBody>
      </p:sp>
      <p:sp>
        <p:nvSpPr>
          <p:cNvPr id="32" name="Text 30"/>
          <p:cNvSpPr/>
          <p:nvPr/>
        </p:nvSpPr>
        <p:spPr>
          <a:xfrm>
            <a:off x="6583680" y="3630168"/>
            <a:ext cx="4727448" cy="0"/>
          </a:xfrm>
          <a:prstGeom prst="rect">
            <a:avLst/>
          </a:prstGeom>
          <a:noFill/>
          <a:ln/>
        </p:spPr>
        <p:txBody>
          <a:bodyPr wrap="square" lIns="0" tIns="0" rIns="0" bIns="0" rtlCol="0" anchor="ctr">
            <a:normAutofit/>
          </a:bodyPr>
          <a:lstStyle/>
          <a:p>
            <a:pPr indent="0" marL="0">
              <a:buNone/>
            </a:pPr>
            <a:r>
              <a:rPr lang="en-US" sz="1050" dirty="0">
                <a:solidFill>
                  <a:srgbClr val="64748B"/>
                </a:solidFill>
              </a:rPr>
              <a:t>Phương sai, ICC/Alpha xấp xỉ, CSV ẩn danh.</a:t>
            </a:r>
            <a:endParaRPr lang="en-US" sz="1050" dirty="0"/>
          </a:p>
        </p:txBody>
      </p:sp>
      <p:sp>
        <p:nvSpPr>
          <p:cNvPr id="33" name="Shape 31"/>
          <p:cNvSpPr/>
          <p:nvPr/>
        </p:nvSpPr>
        <p:spPr>
          <a:xfrm>
            <a:off x="6355080" y="4251960"/>
            <a:ext cx="5074920" cy="960120"/>
          </a:xfrm>
          <a:prstGeom prst="roundRect">
            <a:avLst>
              <a:gd name="adj" fmla="val 11429"/>
            </a:avLst>
          </a:prstGeom>
          <a:solidFill>
            <a:srgbClr val="EAF2FF"/>
          </a:solidFill>
          <a:ln w="12700">
            <a:solidFill>
              <a:srgbClr val="EAF2FF"/>
            </a:solidFill>
            <a:prstDash val="solid"/>
          </a:ln>
        </p:spPr>
      </p:sp>
      <p:sp>
        <p:nvSpPr>
          <p:cNvPr id="34" name="Text 32"/>
          <p:cNvSpPr/>
          <p:nvPr/>
        </p:nvSpPr>
        <p:spPr>
          <a:xfrm>
            <a:off x="6656832" y="4480560"/>
            <a:ext cx="1920240" cy="201168"/>
          </a:xfrm>
          <a:prstGeom prst="rect">
            <a:avLst/>
          </a:prstGeom>
          <a:noFill/>
          <a:ln/>
        </p:spPr>
        <p:txBody>
          <a:bodyPr wrap="square" lIns="0" tIns="0" rIns="0" bIns="0" rtlCol="0" anchor="ctr"/>
          <a:lstStyle/>
          <a:p>
            <a:pPr indent="0" marL="0">
              <a:buNone/>
            </a:pPr>
            <a:r>
              <a:rPr lang="en-US" sz="1400" b="1" dirty="0">
                <a:solidFill>
                  <a:srgbClr val="0B4FD8"/>
                </a:solidFill>
              </a:rPr>
              <a:t>Điểm nhấn khi demo</a:t>
            </a:r>
            <a:endParaRPr lang="en-US" sz="1400" dirty="0"/>
          </a:p>
        </p:txBody>
      </p:sp>
      <p:sp>
        <p:nvSpPr>
          <p:cNvPr id="35" name="Text 33"/>
          <p:cNvSpPr/>
          <p:nvPr/>
        </p:nvSpPr>
        <p:spPr>
          <a:xfrm>
            <a:off x="8823960" y="4425696"/>
            <a:ext cx="2148840" cy="310896"/>
          </a:xfrm>
          <a:prstGeom prst="rect">
            <a:avLst/>
          </a:prstGeom>
          <a:noFill/>
          <a:ln/>
        </p:spPr>
        <p:txBody>
          <a:bodyPr wrap="square" lIns="0" tIns="0" rIns="0" bIns="0" rtlCol="0" anchor="ctr">
            <a:normAutofit/>
          </a:bodyPr>
          <a:lstStyle/>
          <a:p>
            <a:pPr indent="0" marL="0">
              <a:buNone/>
            </a:pPr>
            <a:r>
              <a:rPr lang="en-US" sz="1120" dirty="0">
                <a:solidFill>
                  <a:srgbClr val="0F172A"/>
                </a:solidFill>
              </a:rPr>
              <a:t>Dashboard thao tác trực tiếp, không cần Postman để trình bày luồng nghiệp vụ chính.</a:t>
            </a:r>
            <a:endParaRPr lang="en-US" sz="1120" dirty="0"/>
          </a:p>
        </p:txBody>
      </p:sp>
      <p:sp>
        <p:nvSpPr>
          <p:cNvPr id="36" name="Shape 34"/>
          <p:cNvSpPr/>
          <p:nvPr/>
        </p:nvSpPr>
        <p:spPr>
          <a:xfrm>
            <a:off x="594360" y="6473952"/>
            <a:ext cx="11018520" cy="0"/>
          </a:xfrm>
          <a:prstGeom prst="line">
            <a:avLst/>
          </a:prstGeom>
          <a:noFill/>
          <a:ln w="10160">
            <a:solidFill>
              <a:srgbClr val="D8E4F7"/>
            </a:solidFill>
            <a:prstDash val="solid"/>
          </a:ln>
        </p:spPr>
      </p:sp>
      <p:sp>
        <p:nvSpPr>
          <p:cNvPr id="37" name="Text 35"/>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8" name="Text 36"/>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04 · TRIỂN KHAI</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Tính điểm tổng hợp &amp; xếp hạng</a:t>
            </a:r>
            <a:endParaRPr lang="en-US" sz="2700" dirty="0"/>
          </a:p>
        </p:txBody>
      </p:sp>
      <p:sp>
        <p:nvSpPr>
          <p:cNvPr id="5" name="Shape 3"/>
          <p:cNvSpPr/>
          <p:nvPr/>
        </p:nvSpPr>
        <p:spPr>
          <a:xfrm>
            <a:off x="822960" y="1234440"/>
            <a:ext cx="4754880" cy="3840480"/>
          </a:xfrm>
          <a:prstGeom prst="roundRect">
            <a:avLst>
              <a:gd name="adj" fmla="val 4286"/>
            </a:avLst>
          </a:prstGeom>
          <a:solidFill>
            <a:srgbClr val="FFFFFF"/>
          </a:solidFill>
          <a:ln w="12700">
            <a:solidFill>
              <a:srgbClr val="D8E4F7"/>
            </a:solidFill>
            <a:prstDash val="solid"/>
          </a:ln>
        </p:spPr>
      </p:sp>
      <p:sp>
        <p:nvSpPr>
          <p:cNvPr id="6" name="Text 4"/>
          <p:cNvSpPr/>
          <p:nvPr/>
        </p:nvSpPr>
        <p:spPr>
          <a:xfrm>
            <a:off x="1143000" y="1600200"/>
            <a:ext cx="3291840" cy="256032"/>
          </a:xfrm>
          <a:prstGeom prst="rect">
            <a:avLst/>
          </a:prstGeom>
          <a:noFill/>
          <a:ln/>
        </p:spPr>
        <p:txBody>
          <a:bodyPr wrap="square" lIns="0" tIns="0" rIns="0" bIns="0" rtlCol="0" anchor="ctr"/>
          <a:lstStyle/>
          <a:p>
            <a:pPr indent="0" marL="0">
              <a:buNone/>
            </a:pPr>
            <a:r>
              <a:rPr lang="en-US" sz="2000" b="1" dirty="0">
                <a:solidFill>
                  <a:srgbClr val="0F172A"/>
                </a:solidFill>
              </a:rPr>
              <a:t>Cách hệ thống tính điểm</a:t>
            </a:r>
            <a:endParaRPr lang="en-US" sz="2000" dirty="0"/>
          </a:p>
        </p:txBody>
      </p:sp>
      <p:sp>
        <p:nvSpPr>
          <p:cNvPr id="7" name="Text 5"/>
          <p:cNvSpPr/>
          <p:nvPr/>
        </p:nvSpPr>
        <p:spPr>
          <a:xfrm>
            <a:off x="1143000" y="2084832"/>
            <a:ext cx="4096512" cy="960120"/>
          </a:xfrm>
          <a:prstGeom prst="rect">
            <a:avLst/>
          </a:prstGeom>
          <a:noFill/>
          <a:ln/>
        </p:spPr>
        <p:txBody>
          <a:bodyPr wrap="square" lIns="0" tIns="0" rIns="0" bIns="0" rtlCol="0" anchor="ctr">
            <a:normAutofit/>
          </a:bodyPr>
          <a:lstStyle/>
          <a:p>
            <a:pPr indent="0" marL="0">
              <a:buNone/>
            </a:pPr>
            <a:r>
              <a:rPr lang="en-US" sz="1380" dirty="0">
                <a:solidFill>
                  <a:srgbClr val="64748B"/>
                </a:solidFill>
              </a:rPr>
              <a:t>Với mỗi bài nộp, hệ thống lấy điểm từng tiêu chí từ các giám khảo, tính trung bình theo tiêu chí, chuẩn hóa theo điểm tối đa, nhân trọng số, rồi sắp xếp ranking theo vòng/hạng mục.</a:t>
            </a:r>
            <a:endParaRPr lang="en-US" sz="1380" dirty="0"/>
          </a:p>
        </p:txBody>
      </p:sp>
      <p:sp>
        <p:nvSpPr>
          <p:cNvPr id="8" name="Shape 6"/>
          <p:cNvSpPr/>
          <p:nvPr/>
        </p:nvSpPr>
        <p:spPr>
          <a:xfrm>
            <a:off x="1143000" y="3429000"/>
            <a:ext cx="4069080" cy="841248"/>
          </a:xfrm>
          <a:prstGeom prst="roundRect">
            <a:avLst>
              <a:gd name="adj" fmla="val 13043"/>
            </a:avLst>
          </a:prstGeom>
          <a:solidFill>
            <a:srgbClr val="EAF2FF"/>
          </a:solidFill>
          <a:ln w="12700">
            <a:solidFill>
              <a:srgbClr val="EAF2FF"/>
            </a:solidFill>
            <a:prstDash val="solid"/>
          </a:ln>
        </p:spPr>
      </p:sp>
      <p:sp>
        <p:nvSpPr>
          <p:cNvPr id="9" name="Text 7"/>
          <p:cNvSpPr/>
          <p:nvPr/>
        </p:nvSpPr>
        <p:spPr>
          <a:xfrm>
            <a:off x="1371600" y="3712464"/>
            <a:ext cx="3611880" cy="164592"/>
          </a:xfrm>
          <a:prstGeom prst="rect">
            <a:avLst/>
          </a:prstGeom>
          <a:noFill/>
          <a:ln/>
        </p:spPr>
        <p:txBody>
          <a:bodyPr wrap="square" lIns="0" tIns="0" rIns="0" bIns="0" rtlCol="0" anchor="ctr">
            <a:normAutofit/>
          </a:bodyPr>
          <a:lstStyle/>
          <a:p>
            <a:pPr algn="ctr" indent="0" marL="0">
              <a:buNone/>
            </a:pPr>
            <a:r>
              <a:rPr lang="en-US" sz="1130" b="1" dirty="0">
                <a:solidFill>
                  <a:srgbClr val="0B4FD8"/>
                </a:solidFill>
              </a:rPr>
              <a:t>Final Score = Σ(avgCriterion / maxScore × weight × 10) / Σ(weight)</a:t>
            </a:r>
            <a:endParaRPr lang="en-US" sz="1130" dirty="0"/>
          </a:p>
        </p:txBody>
      </p:sp>
      <p:sp>
        <p:nvSpPr>
          <p:cNvPr id="10" name="Shape 8"/>
          <p:cNvSpPr/>
          <p:nvPr/>
        </p:nvSpPr>
        <p:spPr>
          <a:xfrm>
            <a:off x="6355080" y="1920240"/>
            <a:ext cx="1005840" cy="822960"/>
          </a:xfrm>
          <a:prstGeom prst="roundRect">
            <a:avLst>
              <a:gd name="adj" fmla="val 14444"/>
            </a:avLst>
          </a:prstGeom>
          <a:solidFill>
            <a:srgbClr val="FFFFFF"/>
          </a:solidFill>
          <a:ln w="12700">
            <a:solidFill>
              <a:srgbClr val="D8E4F7"/>
            </a:solidFill>
            <a:prstDash val="solid"/>
          </a:ln>
        </p:spPr>
      </p:sp>
      <p:sp>
        <p:nvSpPr>
          <p:cNvPr id="11" name="Text 9"/>
          <p:cNvSpPr/>
          <p:nvPr/>
        </p:nvSpPr>
        <p:spPr>
          <a:xfrm>
            <a:off x="6446520" y="2148840"/>
            <a:ext cx="822960" cy="128016"/>
          </a:xfrm>
          <a:prstGeom prst="rect">
            <a:avLst/>
          </a:prstGeom>
          <a:noFill/>
          <a:ln/>
        </p:spPr>
        <p:txBody>
          <a:bodyPr wrap="square" lIns="0" tIns="0" rIns="0" bIns="0" rtlCol="0" anchor="ctr">
            <a:normAutofit/>
          </a:bodyPr>
          <a:lstStyle/>
          <a:p>
            <a:pPr algn="ctr" indent="0" marL="0">
              <a:buNone/>
            </a:pPr>
            <a:r>
              <a:rPr lang="en-US" sz="1050" b="1" dirty="0">
                <a:solidFill>
                  <a:srgbClr val="0F172A"/>
                </a:solidFill>
              </a:rPr>
              <a:t>Score</a:t>
            </a:r>
            <a:endParaRPr lang="en-US" sz="1050" dirty="0"/>
          </a:p>
        </p:txBody>
      </p:sp>
      <p:sp>
        <p:nvSpPr>
          <p:cNvPr id="12" name="Text 10"/>
          <p:cNvSpPr/>
          <p:nvPr/>
        </p:nvSpPr>
        <p:spPr>
          <a:xfrm>
            <a:off x="6446520" y="2377440"/>
            <a:ext cx="822960" cy="109728"/>
          </a:xfrm>
          <a:prstGeom prst="rect">
            <a:avLst/>
          </a:prstGeom>
          <a:noFill/>
          <a:ln/>
        </p:spPr>
        <p:txBody>
          <a:bodyPr wrap="square" lIns="0" tIns="0" rIns="0" bIns="0" rtlCol="0" anchor="ctr">
            <a:normAutofit/>
          </a:bodyPr>
          <a:lstStyle/>
          <a:p>
            <a:pPr algn="ctr" indent="0" marL="0">
              <a:buNone/>
            </a:pPr>
            <a:r>
              <a:rPr lang="en-US" sz="720" dirty="0">
                <a:solidFill>
                  <a:srgbClr val="64748B"/>
                </a:solidFill>
              </a:rPr>
              <a:t>Judge × Criterion</a:t>
            </a:r>
            <a:endParaRPr lang="en-US" sz="720" dirty="0"/>
          </a:p>
        </p:txBody>
      </p:sp>
      <p:sp>
        <p:nvSpPr>
          <p:cNvPr id="13" name="Shape 11"/>
          <p:cNvSpPr/>
          <p:nvPr/>
        </p:nvSpPr>
        <p:spPr>
          <a:xfrm>
            <a:off x="7379208" y="2331720"/>
            <a:ext cx="109728" cy="0"/>
          </a:xfrm>
          <a:prstGeom prst="line">
            <a:avLst/>
          </a:prstGeom>
          <a:noFill/>
          <a:ln w="27940">
            <a:solidFill>
              <a:srgbClr val="2563EB"/>
            </a:solidFill>
            <a:prstDash val="solid"/>
            <a:headEnd type="none"/>
            <a:tailEnd type="triangle"/>
          </a:ln>
        </p:spPr>
      </p:sp>
      <p:sp>
        <p:nvSpPr>
          <p:cNvPr id="14" name="Shape 12"/>
          <p:cNvSpPr/>
          <p:nvPr/>
        </p:nvSpPr>
        <p:spPr>
          <a:xfrm>
            <a:off x="7562088" y="1920240"/>
            <a:ext cx="1005840" cy="822960"/>
          </a:xfrm>
          <a:prstGeom prst="roundRect">
            <a:avLst>
              <a:gd name="adj" fmla="val 14444"/>
            </a:avLst>
          </a:prstGeom>
          <a:solidFill>
            <a:srgbClr val="FFFFFF"/>
          </a:solidFill>
          <a:ln w="12700">
            <a:solidFill>
              <a:srgbClr val="D8E4F7"/>
            </a:solidFill>
            <a:prstDash val="solid"/>
          </a:ln>
        </p:spPr>
      </p:sp>
      <p:sp>
        <p:nvSpPr>
          <p:cNvPr id="15" name="Text 13"/>
          <p:cNvSpPr/>
          <p:nvPr/>
        </p:nvSpPr>
        <p:spPr>
          <a:xfrm>
            <a:off x="7653528" y="2148840"/>
            <a:ext cx="822960" cy="128016"/>
          </a:xfrm>
          <a:prstGeom prst="rect">
            <a:avLst/>
          </a:prstGeom>
          <a:noFill/>
          <a:ln/>
        </p:spPr>
        <p:txBody>
          <a:bodyPr wrap="square" lIns="0" tIns="0" rIns="0" bIns="0" rtlCol="0" anchor="ctr">
            <a:normAutofit/>
          </a:bodyPr>
          <a:lstStyle/>
          <a:p>
            <a:pPr algn="ctr" indent="0" marL="0">
              <a:buNone/>
            </a:pPr>
            <a:r>
              <a:rPr lang="en-US" sz="1050" b="1" dirty="0">
                <a:solidFill>
                  <a:srgbClr val="0F172A"/>
                </a:solidFill>
              </a:rPr>
              <a:t>Average</a:t>
            </a:r>
            <a:endParaRPr lang="en-US" sz="1050" dirty="0"/>
          </a:p>
        </p:txBody>
      </p:sp>
      <p:sp>
        <p:nvSpPr>
          <p:cNvPr id="16" name="Text 14"/>
          <p:cNvSpPr/>
          <p:nvPr/>
        </p:nvSpPr>
        <p:spPr>
          <a:xfrm>
            <a:off x="7653528" y="2377440"/>
            <a:ext cx="822960" cy="109728"/>
          </a:xfrm>
          <a:prstGeom prst="rect">
            <a:avLst/>
          </a:prstGeom>
          <a:noFill/>
          <a:ln/>
        </p:spPr>
        <p:txBody>
          <a:bodyPr wrap="square" lIns="0" tIns="0" rIns="0" bIns="0" rtlCol="0" anchor="ctr">
            <a:normAutofit/>
          </a:bodyPr>
          <a:lstStyle/>
          <a:p>
            <a:pPr algn="ctr" indent="0" marL="0">
              <a:buNone/>
            </a:pPr>
            <a:r>
              <a:rPr lang="en-US" sz="720" dirty="0">
                <a:solidFill>
                  <a:srgbClr val="64748B"/>
                </a:solidFill>
              </a:rPr>
              <a:t>Theo tiêu chí</a:t>
            </a:r>
            <a:endParaRPr lang="en-US" sz="720" dirty="0"/>
          </a:p>
        </p:txBody>
      </p:sp>
      <p:sp>
        <p:nvSpPr>
          <p:cNvPr id="17" name="Shape 15"/>
          <p:cNvSpPr/>
          <p:nvPr/>
        </p:nvSpPr>
        <p:spPr>
          <a:xfrm>
            <a:off x="8586216" y="2331720"/>
            <a:ext cx="109728" cy="0"/>
          </a:xfrm>
          <a:prstGeom prst="line">
            <a:avLst/>
          </a:prstGeom>
          <a:noFill/>
          <a:ln w="27940">
            <a:solidFill>
              <a:srgbClr val="2563EB"/>
            </a:solidFill>
            <a:prstDash val="solid"/>
            <a:headEnd type="none"/>
            <a:tailEnd type="triangle"/>
          </a:ln>
        </p:spPr>
      </p:sp>
      <p:sp>
        <p:nvSpPr>
          <p:cNvPr id="18" name="Shape 16"/>
          <p:cNvSpPr/>
          <p:nvPr/>
        </p:nvSpPr>
        <p:spPr>
          <a:xfrm>
            <a:off x="8769096" y="1920240"/>
            <a:ext cx="1005840" cy="822960"/>
          </a:xfrm>
          <a:prstGeom prst="roundRect">
            <a:avLst>
              <a:gd name="adj" fmla="val 14444"/>
            </a:avLst>
          </a:prstGeom>
          <a:solidFill>
            <a:srgbClr val="FFFFFF"/>
          </a:solidFill>
          <a:ln w="12700">
            <a:solidFill>
              <a:srgbClr val="D8E4F7"/>
            </a:solidFill>
            <a:prstDash val="solid"/>
          </a:ln>
        </p:spPr>
      </p:sp>
      <p:sp>
        <p:nvSpPr>
          <p:cNvPr id="19" name="Text 17"/>
          <p:cNvSpPr/>
          <p:nvPr/>
        </p:nvSpPr>
        <p:spPr>
          <a:xfrm>
            <a:off x="8860536" y="2148840"/>
            <a:ext cx="822960" cy="128016"/>
          </a:xfrm>
          <a:prstGeom prst="rect">
            <a:avLst/>
          </a:prstGeom>
          <a:noFill/>
          <a:ln/>
        </p:spPr>
        <p:txBody>
          <a:bodyPr wrap="square" lIns="0" tIns="0" rIns="0" bIns="0" rtlCol="0" anchor="ctr">
            <a:normAutofit/>
          </a:bodyPr>
          <a:lstStyle/>
          <a:p>
            <a:pPr algn="ctr" indent="0" marL="0">
              <a:buNone/>
            </a:pPr>
            <a:r>
              <a:rPr lang="en-US" sz="1050" b="1" dirty="0">
                <a:solidFill>
                  <a:srgbClr val="0F172A"/>
                </a:solidFill>
              </a:rPr>
              <a:t>Weight</a:t>
            </a:r>
            <a:endParaRPr lang="en-US" sz="1050" dirty="0"/>
          </a:p>
        </p:txBody>
      </p:sp>
      <p:sp>
        <p:nvSpPr>
          <p:cNvPr id="20" name="Text 18"/>
          <p:cNvSpPr/>
          <p:nvPr/>
        </p:nvSpPr>
        <p:spPr>
          <a:xfrm>
            <a:off x="8860536" y="2377440"/>
            <a:ext cx="822960" cy="109728"/>
          </a:xfrm>
          <a:prstGeom prst="rect">
            <a:avLst/>
          </a:prstGeom>
          <a:noFill/>
          <a:ln/>
        </p:spPr>
        <p:txBody>
          <a:bodyPr wrap="square" lIns="0" tIns="0" rIns="0" bIns="0" rtlCol="0" anchor="ctr">
            <a:normAutofit/>
          </a:bodyPr>
          <a:lstStyle/>
          <a:p>
            <a:pPr algn="ctr" indent="0" marL="0">
              <a:buNone/>
            </a:pPr>
            <a:r>
              <a:rPr lang="en-US" sz="720" dirty="0">
                <a:solidFill>
                  <a:srgbClr val="64748B"/>
                </a:solidFill>
              </a:rPr>
              <a:t>Nhân trọng số</a:t>
            </a:r>
            <a:endParaRPr lang="en-US" sz="720" dirty="0"/>
          </a:p>
        </p:txBody>
      </p:sp>
      <p:sp>
        <p:nvSpPr>
          <p:cNvPr id="21" name="Shape 19"/>
          <p:cNvSpPr/>
          <p:nvPr/>
        </p:nvSpPr>
        <p:spPr>
          <a:xfrm>
            <a:off x="9793224" y="2331720"/>
            <a:ext cx="109728" cy="0"/>
          </a:xfrm>
          <a:prstGeom prst="line">
            <a:avLst/>
          </a:prstGeom>
          <a:noFill/>
          <a:ln w="27940">
            <a:solidFill>
              <a:srgbClr val="2563EB"/>
            </a:solidFill>
            <a:prstDash val="solid"/>
            <a:headEnd type="none"/>
            <a:tailEnd type="triangle"/>
          </a:ln>
        </p:spPr>
      </p:sp>
      <p:sp>
        <p:nvSpPr>
          <p:cNvPr id="22" name="Shape 20"/>
          <p:cNvSpPr/>
          <p:nvPr/>
        </p:nvSpPr>
        <p:spPr>
          <a:xfrm>
            <a:off x="9976104" y="1920240"/>
            <a:ext cx="1005840" cy="822960"/>
          </a:xfrm>
          <a:prstGeom prst="roundRect">
            <a:avLst>
              <a:gd name="adj" fmla="val 14444"/>
            </a:avLst>
          </a:prstGeom>
          <a:solidFill>
            <a:srgbClr val="0B4FD8"/>
          </a:solidFill>
          <a:ln w="12700">
            <a:solidFill>
              <a:srgbClr val="0B4FD8"/>
            </a:solidFill>
            <a:prstDash val="solid"/>
          </a:ln>
        </p:spPr>
      </p:sp>
      <p:sp>
        <p:nvSpPr>
          <p:cNvPr id="23" name="Text 21"/>
          <p:cNvSpPr/>
          <p:nvPr/>
        </p:nvSpPr>
        <p:spPr>
          <a:xfrm>
            <a:off x="10067544" y="2148840"/>
            <a:ext cx="822960" cy="128016"/>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Ranking</a:t>
            </a:r>
            <a:endParaRPr lang="en-US" sz="1050" dirty="0"/>
          </a:p>
        </p:txBody>
      </p:sp>
      <p:sp>
        <p:nvSpPr>
          <p:cNvPr id="24" name="Text 22"/>
          <p:cNvSpPr/>
          <p:nvPr/>
        </p:nvSpPr>
        <p:spPr>
          <a:xfrm>
            <a:off x="10067544" y="2377440"/>
            <a:ext cx="822960" cy="109728"/>
          </a:xfrm>
          <a:prstGeom prst="rect">
            <a:avLst/>
          </a:prstGeom>
          <a:noFill/>
          <a:ln/>
        </p:spPr>
        <p:txBody>
          <a:bodyPr wrap="square" lIns="0" tIns="0" rIns="0" bIns="0" rtlCol="0" anchor="ctr">
            <a:normAutofit/>
          </a:bodyPr>
          <a:lstStyle/>
          <a:p>
            <a:pPr algn="ctr" indent="0" marL="0">
              <a:buNone/>
            </a:pPr>
            <a:r>
              <a:rPr lang="en-US" sz="720" dirty="0">
                <a:solidFill>
                  <a:srgbClr val="FFFFFF"/>
                </a:solidFill>
              </a:rPr>
              <a:t>Xếp hạng đội</a:t>
            </a:r>
            <a:endParaRPr lang="en-US" sz="720" dirty="0"/>
          </a:p>
        </p:txBody>
      </p:sp>
      <p:sp>
        <p:nvSpPr>
          <p:cNvPr id="25" name="Shape 23"/>
          <p:cNvSpPr/>
          <p:nvPr/>
        </p:nvSpPr>
        <p:spPr>
          <a:xfrm>
            <a:off x="6400800" y="3657600"/>
            <a:ext cx="4389120" cy="1234440"/>
          </a:xfrm>
          <a:prstGeom prst="roundRect">
            <a:avLst>
              <a:gd name="adj" fmla="val 8889"/>
            </a:avLst>
          </a:prstGeom>
          <a:solidFill>
            <a:srgbClr val="FFFFFF"/>
          </a:solidFill>
          <a:ln w="12700">
            <a:solidFill>
              <a:srgbClr val="D8E4F7"/>
            </a:solidFill>
            <a:prstDash val="solid"/>
          </a:ln>
        </p:spPr>
      </p:sp>
      <p:sp>
        <p:nvSpPr>
          <p:cNvPr id="26" name="Shape 24"/>
          <p:cNvSpPr/>
          <p:nvPr/>
        </p:nvSpPr>
        <p:spPr>
          <a:xfrm>
            <a:off x="6400800" y="3657600"/>
            <a:ext cx="73152" cy="1234440"/>
          </a:xfrm>
          <a:prstGeom prst="rect">
            <a:avLst/>
          </a:prstGeom>
          <a:solidFill>
            <a:srgbClr val="14B8A6"/>
          </a:solidFill>
          <a:ln w="12700">
            <a:solidFill>
              <a:srgbClr val="14B8A6">
                <a:alpha val="0"/>
              </a:srgbClr>
            </a:solidFill>
            <a:prstDash val="solid"/>
          </a:ln>
        </p:spPr>
      </p:sp>
      <p:sp>
        <p:nvSpPr>
          <p:cNvPr id="27" name="Text 25"/>
          <p:cNvSpPr/>
          <p:nvPr/>
        </p:nvSpPr>
        <p:spPr>
          <a:xfrm>
            <a:off x="6629400" y="3858768"/>
            <a:ext cx="402336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rPr>
              <a:t>Vì sao không chỉ lưu điểm trung bình?</a:t>
            </a:r>
            <a:endParaRPr lang="en-US" sz="1400" dirty="0"/>
          </a:p>
        </p:txBody>
      </p:sp>
      <p:sp>
        <p:nvSpPr>
          <p:cNvPr id="28" name="Text 26"/>
          <p:cNvSpPr/>
          <p:nvPr/>
        </p:nvSpPr>
        <p:spPr>
          <a:xfrm>
            <a:off x="6629400" y="4224528"/>
            <a:ext cx="4041648" cy="521208"/>
          </a:xfrm>
          <a:prstGeom prst="rect">
            <a:avLst/>
          </a:prstGeom>
          <a:noFill/>
          <a:ln/>
        </p:spPr>
        <p:txBody>
          <a:bodyPr wrap="square" lIns="0" tIns="0" rIns="0" bIns="0" rtlCol="0" anchor="ctr">
            <a:normAutofit/>
          </a:bodyPr>
          <a:lstStyle/>
          <a:p>
            <a:pPr indent="0" marL="0">
              <a:buNone/>
            </a:pPr>
            <a:r>
              <a:rPr lang="en-US" sz="1220" dirty="0">
                <a:solidFill>
                  <a:srgbClr val="64748B"/>
                </a:solidFill>
              </a:rPr>
              <a:t>Lưu điểm gốc giúp truy vết nguồn điểm, phát hiện giám khảo lệch, phục vụ audit log và phân tích inter-rater reliability trong RBL.</a:t>
            </a:r>
            <a:endParaRPr lang="en-US" sz="1220" dirty="0"/>
          </a:p>
        </p:txBody>
      </p:sp>
      <p:sp>
        <p:nvSpPr>
          <p:cNvPr id="29" name="Shape 27"/>
          <p:cNvSpPr/>
          <p:nvPr/>
        </p:nvSpPr>
        <p:spPr>
          <a:xfrm>
            <a:off x="594360" y="6473952"/>
            <a:ext cx="11018520" cy="0"/>
          </a:xfrm>
          <a:prstGeom prst="line">
            <a:avLst/>
          </a:prstGeom>
          <a:noFill/>
          <a:ln w="10160">
            <a:solidFill>
              <a:srgbClr val="D8E4F7"/>
            </a:solidFill>
            <a:prstDash val="solid"/>
          </a:ln>
        </p:spPr>
      </p:sp>
      <p:sp>
        <p:nvSpPr>
          <p:cNvPr id="30" name="Text 28"/>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1" name="Text 29"/>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04 · RBL</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Module RBL: độ tin cậy liên đánh giá viên</a:t>
            </a:r>
            <a:endParaRPr lang="en-US" sz="2700" dirty="0"/>
          </a:p>
        </p:txBody>
      </p:sp>
      <p:sp>
        <p:nvSpPr>
          <p:cNvPr id="5" name="Shape 3"/>
          <p:cNvSpPr/>
          <p:nvPr/>
        </p:nvSpPr>
        <p:spPr>
          <a:xfrm>
            <a:off x="777240" y="1143000"/>
            <a:ext cx="4160520" cy="4480560"/>
          </a:xfrm>
          <a:prstGeom prst="roundRect">
            <a:avLst>
              <a:gd name="adj" fmla="val 3956"/>
            </a:avLst>
          </a:prstGeom>
          <a:solidFill>
            <a:srgbClr val="FFFFFF"/>
          </a:solidFill>
          <a:ln w="12700">
            <a:solidFill>
              <a:srgbClr val="D8E4F7"/>
            </a:solidFill>
            <a:prstDash val="solid"/>
          </a:ln>
        </p:spPr>
      </p:sp>
      <p:sp>
        <p:nvSpPr>
          <p:cNvPr id="6" name="Text 4"/>
          <p:cNvSpPr/>
          <p:nvPr/>
        </p:nvSpPr>
        <p:spPr>
          <a:xfrm>
            <a:off x="1097280" y="1508760"/>
            <a:ext cx="2926080" cy="237744"/>
          </a:xfrm>
          <a:prstGeom prst="rect">
            <a:avLst/>
          </a:prstGeom>
          <a:noFill/>
          <a:ln/>
        </p:spPr>
        <p:txBody>
          <a:bodyPr wrap="square" lIns="0" tIns="0" rIns="0" bIns="0" rtlCol="0" anchor="ctr"/>
          <a:lstStyle/>
          <a:p>
            <a:pPr indent="0" marL="0">
              <a:buNone/>
            </a:pPr>
            <a:r>
              <a:rPr lang="en-US" sz="1900" b="1" dirty="0">
                <a:solidFill>
                  <a:srgbClr val="0F172A"/>
                </a:solidFill>
              </a:rPr>
              <a:t>Câu hỏi nghiên cứu</a:t>
            </a:r>
            <a:endParaRPr lang="en-US" sz="1900" dirty="0"/>
          </a:p>
        </p:txBody>
      </p:sp>
      <p:sp>
        <p:nvSpPr>
          <p:cNvPr id="7" name="Text 5"/>
          <p:cNvSpPr/>
          <p:nvPr/>
        </p:nvSpPr>
        <p:spPr>
          <a:xfrm>
            <a:off x="1115568" y="2029968"/>
            <a:ext cx="3383280" cy="2148840"/>
          </a:xfrm>
          <a:prstGeom prst="rect">
            <a:avLst/>
          </a:prstGeom>
          <a:noFill/>
          <a:ln/>
        </p:spPr>
        <p:txBody>
          <a:bodyPr wrap="square" lIns="381" tIns="381" rIns="381" bIns="381" rtlCol="0" anchor="t">
            <a:normAutofit/>
          </a:bodyPr>
          <a:lstStyle/>
          <a:p>
            <a:r>
              <a:rPr lang="en-US" sz="1330" dirty="0">
                <a:solidFill>
                  <a:srgbClr val="0F172A"/>
                </a:solidFill>
              </a:rPr>
              <a:t>Các giám khảo có chấm nhất quán trên cùng một bài nộp không?
</a:t>
            </a:r>
            <a:endParaRPr lang="en-US" sz="1330" dirty="0"/>
          </a:p>
          <a:p>
            <a:r>
              <a:rPr lang="en-US" sz="1330" dirty="0">
                <a:solidFill>
                  <a:srgbClr val="0F172A"/>
                </a:solidFill>
              </a:rPr>
              <a:t>Tiêu chí nào có mức độ bất đồng cao nhất?
</a:t>
            </a:r>
            <a:endParaRPr lang="en-US" sz="1330" dirty="0"/>
          </a:p>
          <a:p>
            <a:r>
              <a:rPr lang="en-US" sz="1330" dirty="0">
                <a:solidFill>
                  <a:srgbClr val="0F172A"/>
                </a:solidFill>
              </a:rPr>
              <a:t>Giám khảo nội bộ và khách mời có xu hướng chấm khác nhau không?
</a:t>
            </a:r>
            <a:endParaRPr lang="en-US" sz="1330" dirty="0"/>
          </a:p>
          <a:p>
            <a:r>
              <a:rPr lang="en-US" sz="1330" dirty="0">
                <a:solidFill>
                  <a:srgbClr val="0F172A"/>
                </a:solidFill>
              </a:rPr>
              <a:t>Vòng hiệu chuẩn có thể giúp giảm sai lệch không?</a:t>
            </a:r>
            <a:endParaRPr lang="en-US" sz="1330" dirty="0"/>
          </a:p>
        </p:txBody>
      </p:sp>
      <p:sp>
        <p:nvSpPr>
          <p:cNvPr id="8" name="Shape 6"/>
          <p:cNvSpPr/>
          <p:nvPr/>
        </p:nvSpPr>
        <p:spPr>
          <a:xfrm>
            <a:off x="1115568" y="4645152"/>
            <a:ext cx="2286000" cy="320040"/>
          </a:xfrm>
          <a:prstGeom prst="roundRect">
            <a:avLst>
              <a:gd name="adj" fmla="val 22857"/>
            </a:avLst>
          </a:prstGeom>
          <a:solidFill>
            <a:srgbClr val="EAF2FF"/>
          </a:solidFill>
          <a:ln w="12700">
            <a:solidFill>
              <a:srgbClr val="EAF2FF">
                <a:alpha val="0"/>
              </a:srgbClr>
            </a:solidFill>
            <a:prstDash val="solid"/>
          </a:ln>
        </p:spPr>
      </p:sp>
      <p:sp>
        <p:nvSpPr>
          <p:cNvPr id="9" name="Text 7"/>
          <p:cNvSpPr/>
          <p:nvPr/>
        </p:nvSpPr>
        <p:spPr>
          <a:xfrm>
            <a:off x="1188720" y="4718304"/>
            <a:ext cx="2139696" cy="146304"/>
          </a:xfrm>
          <a:prstGeom prst="rect">
            <a:avLst/>
          </a:prstGeom>
          <a:noFill/>
          <a:ln/>
        </p:spPr>
        <p:txBody>
          <a:bodyPr wrap="square" lIns="0" tIns="0" rIns="0" bIns="0" rtlCol="0" anchor="ctr"/>
          <a:lstStyle/>
          <a:p>
            <a:pPr algn="ctr" indent="0" marL="0">
              <a:buNone/>
            </a:pPr>
            <a:r>
              <a:rPr lang="en-US" sz="750" b="1" dirty="0">
                <a:solidFill>
                  <a:srgbClr val="0B4FD8"/>
                </a:solidFill>
              </a:rPr>
              <a:t>Dữ liệu xuất CSV đã ẩn danh</a:t>
            </a:r>
            <a:endParaRPr lang="en-US" sz="750" dirty="0"/>
          </a:p>
        </p:txBody>
      </p:sp>
      <p:sp>
        <p:nvSpPr>
          <p:cNvPr id="10" name="Shape 8"/>
          <p:cNvSpPr/>
          <p:nvPr/>
        </p:nvSpPr>
        <p:spPr>
          <a:xfrm>
            <a:off x="5577840" y="1234440"/>
            <a:ext cx="5029200" cy="822960"/>
          </a:xfrm>
          <a:prstGeom prst="roundRect">
            <a:avLst>
              <a:gd name="adj" fmla="val 13333"/>
            </a:avLst>
          </a:prstGeom>
          <a:solidFill>
            <a:srgbClr val="FFFFFF"/>
          </a:solidFill>
          <a:ln w="12700">
            <a:solidFill>
              <a:srgbClr val="D8E4F7"/>
            </a:solidFill>
            <a:prstDash val="solid"/>
          </a:ln>
        </p:spPr>
      </p:sp>
      <p:sp>
        <p:nvSpPr>
          <p:cNvPr id="11" name="Shape 9"/>
          <p:cNvSpPr/>
          <p:nvPr/>
        </p:nvSpPr>
        <p:spPr>
          <a:xfrm>
            <a:off x="5577840" y="1234440"/>
            <a:ext cx="73152" cy="822960"/>
          </a:xfrm>
          <a:prstGeom prst="rect">
            <a:avLst/>
          </a:prstGeom>
          <a:solidFill>
            <a:srgbClr val="F97316"/>
          </a:solidFill>
          <a:ln w="12700">
            <a:solidFill>
              <a:srgbClr val="F97316">
                <a:alpha val="0"/>
              </a:srgbClr>
            </a:solidFill>
            <a:prstDash val="solid"/>
          </a:ln>
        </p:spPr>
      </p:sp>
      <p:sp>
        <p:nvSpPr>
          <p:cNvPr id="12" name="Text 10"/>
          <p:cNvSpPr/>
          <p:nvPr/>
        </p:nvSpPr>
        <p:spPr>
          <a:xfrm>
            <a:off x="5806440" y="1435608"/>
            <a:ext cx="466344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Variance</a:t>
            </a:r>
            <a:endParaRPr lang="en-US" sz="1200" dirty="0"/>
          </a:p>
        </p:txBody>
      </p:sp>
      <p:sp>
        <p:nvSpPr>
          <p:cNvPr id="13" name="Text 11"/>
          <p:cNvSpPr/>
          <p:nvPr/>
        </p:nvSpPr>
        <p:spPr>
          <a:xfrm>
            <a:off x="5806440" y="1801368"/>
            <a:ext cx="4681728" cy="109728"/>
          </a:xfrm>
          <a:prstGeom prst="rect">
            <a:avLst/>
          </a:prstGeom>
          <a:noFill/>
          <a:ln/>
        </p:spPr>
        <p:txBody>
          <a:bodyPr wrap="square" lIns="0" tIns="0" rIns="0" bIns="0" rtlCol="0" anchor="ctr">
            <a:normAutofit/>
          </a:bodyPr>
          <a:lstStyle/>
          <a:p>
            <a:pPr indent="0" marL="0">
              <a:buNone/>
            </a:pPr>
            <a:r>
              <a:rPr lang="en-US" sz="1050" dirty="0">
                <a:solidFill>
                  <a:srgbClr val="64748B"/>
                </a:solidFill>
              </a:rPr>
              <a:t>Độ phân tán điểm</a:t>
            </a:r>
            <a:endParaRPr lang="en-US" sz="1050" dirty="0"/>
          </a:p>
        </p:txBody>
      </p:sp>
      <p:sp>
        <p:nvSpPr>
          <p:cNvPr id="14" name="Shape 12"/>
          <p:cNvSpPr/>
          <p:nvPr/>
        </p:nvSpPr>
        <p:spPr>
          <a:xfrm>
            <a:off x="5577840" y="2313432"/>
            <a:ext cx="5029200" cy="822960"/>
          </a:xfrm>
          <a:prstGeom prst="roundRect">
            <a:avLst>
              <a:gd name="adj" fmla="val 13333"/>
            </a:avLst>
          </a:prstGeom>
          <a:solidFill>
            <a:srgbClr val="FFFFFF"/>
          </a:solidFill>
          <a:ln w="12700">
            <a:solidFill>
              <a:srgbClr val="D8E4F7"/>
            </a:solidFill>
            <a:prstDash val="solid"/>
          </a:ln>
        </p:spPr>
      </p:sp>
      <p:sp>
        <p:nvSpPr>
          <p:cNvPr id="15" name="Shape 13"/>
          <p:cNvSpPr/>
          <p:nvPr/>
        </p:nvSpPr>
        <p:spPr>
          <a:xfrm>
            <a:off x="5577840" y="2313432"/>
            <a:ext cx="73152" cy="822960"/>
          </a:xfrm>
          <a:prstGeom prst="rect">
            <a:avLst/>
          </a:prstGeom>
          <a:solidFill>
            <a:srgbClr val="0B4FD8"/>
          </a:solidFill>
          <a:ln w="12700">
            <a:solidFill>
              <a:srgbClr val="0B4FD8">
                <a:alpha val="0"/>
              </a:srgbClr>
            </a:solidFill>
            <a:prstDash val="solid"/>
          </a:ln>
        </p:spPr>
      </p:sp>
      <p:sp>
        <p:nvSpPr>
          <p:cNvPr id="16" name="Text 14"/>
          <p:cNvSpPr/>
          <p:nvPr/>
        </p:nvSpPr>
        <p:spPr>
          <a:xfrm>
            <a:off x="5806440" y="2514600"/>
            <a:ext cx="466344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ICC</a:t>
            </a:r>
            <a:endParaRPr lang="en-US" sz="1200" dirty="0"/>
          </a:p>
        </p:txBody>
      </p:sp>
      <p:sp>
        <p:nvSpPr>
          <p:cNvPr id="17" name="Text 15"/>
          <p:cNvSpPr/>
          <p:nvPr/>
        </p:nvSpPr>
        <p:spPr>
          <a:xfrm>
            <a:off x="5806440" y="2880360"/>
            <a:ext cx="4681728" cy="109728"/>
          </a:xfrm>
          <a:prstGeom prst="rect">
            <a:avLst/>
          </a:prstGeom>
          <a:noFill/>
          <a:ln/>
        </p:spPr>
        <p:txBody>
          <a:bodyPr wrap="square" lIns="0" tIns="0" rIns="0" bIns="0" rtlCol="0" anchor="ctr">
            <a:normAutofit/>
          </a:bodyPr>
          <a:lstStyle/>
          <a:p>
            <a:pPr indent="0" marL="0">
              <a:buNone/>
            </a:pPr>
            <a:r>
              <a:rPr lang="en-US" sz="1050" dirty="0">
                <a:solidFill>
                  <a:srgbClr val="64748B"/>
                </a:solidFill>
              </a:rPr>
              <a:t>Tương quan nội lớp</a:t>
            </a:r>
            <a:endParaRPr lang="en-US" sz="1050" dirty="0"/>
          </a:p>
        </p:txBody>
      </p:sp>
      <p:sp>
        <p:nvSpPr>
          <p:cNvPr id="18" name="Shape 16"/>
          <p:cNvSpPr/>
          <p:nvPr/>
        </p:nvSpPr>
        <p:spPr>
          <a:xfrm>
            <a:off x="5577840" y="3392424"/>
            <a:ext cx="5029200" cy="822960"/>
          </a:xfrm>
          <a:prstGeom prst="roundRect">
            <a:avLst>
              <a:gd name="adj" fmla="val 13333"/>
            </a:avLst>
          </a:prstGeom>
          <a:solidFill>
            <a:srgbClr val="FFFFFF"/>
          </a:solidFill>
          <a:ln w="12700">
            <a:solidFill>
              <a:srgbClr val="D8E4F7"/>
            </a:solidFill>
            <a:prstDash val="solid"/>
          </a:ln>
        </p:spPr>
      </p:sp>
      <p:sp>
        <p:nvSpPr>
          <p:cNvPr id="19" name="Shape 17"/>
          <p:cNvSpPr/>
          <p:nvPr/>
        </p:nvSpPr>
        <p:spPr>
          <a:xfrm>
            <a:off x="5577840" y="3392424"/>
            <a:ext cx="73152" cy="822960"/>
          </a:xfrm>
          <a:prstGeom prst="rect">
            <a:avLst/>
          </a:prstGeom>
          <a:solidFill>
            <a:srgbClr val="14B8A6"/>
          </a:solidFill>
          <a:ln w="12700">
            <a:solidFill>
              <a:srgbClr val="14B8A6">
                <a:alpha val="0"/>
              </a:srgbClr>
            </a:solidFill>
            <a:prstDash val="solid"/>
          </a:ln>
        </p:spPr>
      </p:sp>
      <p:sp>
        <p:nvSpPr>
          <p:cNvPr id="20" name="Text 18"/>
          <p:cNvSpPr/>
          <p:nvPr/>
        </p:nvSpPr>
        <p:spPr>
          <a:xfrm>
            <a:off x="5806440" y="3593592"/>
            <a:ext cx="466344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Krippendorff α</a:t>
            </a:r>
            <a:endParaRPr lang="en-US" sz="1200" dirty="0"/>
          </a:p>
        </p:txBody>
      </p:sp>
      <p:sp>
        <p:nvSpPr>
          <p:cNvPr id="21" name="Text 19"/>
          <p:cNvSpPr/>
          <p:nvPr/>
        </p:nvSpPr>
        <p:spPr>
          <a:xfrm>
            <a:off x="5806440" y="3959352"/>
            <a:ext cx="4681728" cy="109728"/>
          </a:xfrm>
          <a:prstGeom prst="rect">
            <a:avLst/>
          </a:prstGeom>
          <a:noFill/>
          <a:ln/>
        </p:spPr>
        <p:txBody>
          <a:bodyPr wrap="square" lIns="0" tIns="0" rIns="0" bIns="0" rtlCol="0" anchor="ctr">
            <a:normAutofit/>
          </a:bodyPr>
          <a:lstStyle/>
          <a:p>
            <a:pPr indent="0" marL="0">
              <a:buNone/>
            </a:pPr>
            <a:r>
              <a:rPr lang="en-US" sz="1050" dirty="0">
                <a:solidFill>
                  <a:srgbClr val="64748B"/>
                </a:solidFill>
              </a:rPr>
              <a:t>Độ tin cậy tổng quát</a:t>
            </a:r>
            <a:endParaRPr lang="en-US" sz="1050" dirty="0"/>
          </a:p>
        </p:txBody>
      </p:sp>
      <p:sp>
        <p:nvSpPr>
          <p:cNvPr id="22" name="Shape 20"/>
          <p:cNvSpPr/>
          <p:nvPr/>
        </p:nvSpPr>
        <p:spPr>
          <a:xfrm>
            <a:off x="5577840" y="4572000"/>
            <a:ext cx="5029200" cy="822960"/>
          </a:xfrm>
          <a:prstGeom prst="roundRect">
            <a:avLst>
              <a:gd name="adj" fmla="val 16667"/>
            </a:avLst>
          </a:prstGeom>
          <a:solidFill>
            <a:srgbClr val="EAF2FF"/>
          </a:solidFill>
          <a:ln w="12700">
            <a:solidFill>
              <a:srgbClr val="EAF2FF"/>
            </a:solidFill>
            <a:prstDash val="solid"/>
          </a:ln>
        </p:spPr>
      </p:sp>
      <p:sp>
        <p:nvSpPr>
          <p:cNvPr id="23" name="Text 21"/>
          <p:cNvSpPr/>
          <p:nvPr/>
        </p:nvSpPr>
        <p:spPr>
          <a:xfrm>
            <a:off x="5897880" y="4800600"/>
            <a:ext cx="1371600" cy="164592"/>
          </a:xfrm>
          <a:prstGeom prst="rect">
            <a:avLst/>
          </a:prstGeom>
          <a:noFill/>
          <a:ln/>
        </p:spPr>
        <p:txBody>
          <a:bodyPr wrap="square" lIns="0" tIns="0" rIns="0" bIns="0" rtlCol="0" anchor="ctr"/>
          <a:lstStyle/>
          <a:p>
            <a:pPr indent="0" marL="0">
              <a:buNone/>
            </a:pPr>
            <a:r>
              <a:rPr lang="en-US" sz="1250" b="1" dirty="0">
                <a:solidFill>
                  <a:srgbClr val="0B4FD8"/>
                </a:solidFill>
              </a:rPr>
              <a:t>Ý nghĩa bảo vệ</a:t>
            </a:r>
            <a:endParaRPr lang="en-US" sz="1250" dirty="0"/>
          </a:p>
        </p:txBody>
      </p:sp>
      <p:sp>
        <p:nvSpPr>
          <p:cNvPr id="24" name="Text 22"/>
          <p:cNvSpPr/>
          <p:nvPr/>
        </p:nvSpPr>
        <p:spPr>
          <a:xfrm>
            <a:off x="7635240" y="4736592"/>
            <a:ext cx="2651760" cy="292608"/>
          </a:xfrm>
          <a:prstGeom prst="rect">
            <a:avLst/>
          </a:prstGeom>
          <a:noFill/>
          <a:ln/>
        </p:spPr>
        <p:txBody>
          <a:bodyPr wrap="square" lIns="0" tIns="0" rIns="0" bIns="0" rtlCol="0" anchor="ctr">
            <a:normAutofit/>
          </a:bodyPr>
          <a:lstStyle/>
          <a:p>
            <a:pPr indent="0" marL="0">
              <a:buNone/>
            </a:pPr>
            <a:r>
              <a:rPr lang="en-US" sz="1120" dirty="0">
                <a:solidFill>
                  <a:srgbClr val="0F172A"/>
                </a:solidFill>
              </a:rPr>
              <a:t>Hệ thống biến quá trình chấm điểm thành dữ liệu nghiên cứu, giúp cải thiện rubric và nâng tính công bằng.</a:t>
            </a:r>
            <a:endParaRPr lang="en-US" sz="1120" dirty="0"/>
          </a:p>
        </p:txBody>
      </p:sp>
      <p:sp>
        <p:nvSpPr>
          <p:cNvPr id="25" name="Shape 23"/>
          <p:cNvSpPr/>
          <p:nvPr/>
        </p:nvSpPr>
        <p:spPr>
          <a:xfrm>
            <a:off x="594360" y="6473952"/>
            <a:ext cx="11018520" cy="0"/>
          </a:xfrm>
          <a:prstGeom prst="line">
            <a:avLst/>
          </a:prstGeom>
          <a:noFill/>
          <a:ln w="10160">
            <a:solidFill>
              <a:srgbClr val="D8E4F7"/>
            </a:solidFill>
            <a:prstDash val="solid"/>
          </a:ln>
        </p:spPr>
      </p:sp>
      <p:sp>
        <p:nvSpPr>
          <p:cNvPr id="26" name="Text 24"/>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27" name="Text 25"/>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04 · DEMO</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Giao diện &amp; kịch bản demo đề xuất</a:t>
            </a:r>
            <a:endParaRPr lang="en-US" sz="2700" dirty="0"/>
          </a:p>
        </p:txBody>
      </p:sp>
      <p:pic>
        <p:nvPicPr>
          <p:cNvPr id="5" name="Image 0" descr="/mnt/data/seal_screens/landing.png">    </p:cNvPr>
          <p:cNvPicPr>
            <a:picLocks noChangeAspect="1"/>
          </p:cNvPicPr>
          <p:nvPr/>
        </p:nvPicPr>
        <p:blipFill>
          <a:blip r:embed="rId1"/>
          <a:srcRect l="2000" r="-4199" t="0" b="18000"/>
          <a:stretch/>
        </p:blipFill>
        <p:spPr>
          <a:xfrm>
            <a:off x="685800" y="1143000"/>
            <a:ext cx="5166360" cy="2331720"/>
          </a:xfrm>
          <a:prstGeom prst="rect">
            <a:avLst/>
          </a:prstGeom>
        </p:spPr>
      </p:pic>
      <p:pic>
        <p:nvPicPr>
          <p:cNvPr id="6" name="Image 1" descr="/mnt/data/seal_screens/dashboard.png">    </p:cNvPr>
          <p:cNvPicPr>
            <a:picLocks noChangeAspect="1"/>
          </p:cNvPicPr>
          <p:nvPr/>
        </p:nvPicPr>
        <p:blipFill>
          <a:blip r:embed="rId2"/>
          <a:srcRect l="10000" r="-16956" t="3000" b="27000"/>
          <a:stretch/>
        </p:blipFill>
        <p:spPr>
          <a:xfrm>
            <a:off x="685800" y="3730752"/>
            <a:ext cx="5166360" cy="1901952"/>
          </a:xfrm>
          <a:prstGeom prst="rect">
            <a:avLst/>
          </a:prstGeom>
        </p:spPr>
      </p:pic>
      <p:sp>
        <p:nvSpPr>
          <p:cNvPr id="7" name="Shape 3"/>
          <p:cNvSpPr/>
          <p:nvPr/>
        </p:nvSpPr>
        <p:spPr>
          <a:xfrm>
            <a:off x="6263640" y="1143000"/>
            <a:ext cx="4983480" cy="4480560"/>
          </a:xfrm>
          <a:prstGeom prst="roundRect">
            <a:avLst>
              <a:gd name="adj" fmla="val 3673"/>
            </a:avLst>
          </a:prstGeom>
          <a:solidFill>
            <a:srgbClr val="FFFFFF"/>
          </a:solidFill>
          <a:ln w="12700">
            <a:solidFill>
              <a:srgbClr val="D8E4F7"/>
            </a:solidFill>
            <a:prstDash val="solid"/>
          </a:ln>
        </p:spPr>
      </p:sp>
      <p:sp>
        <p:nvSpPr>
          <p:cNvPr id="8" name="Text 4"/>
          <p:cNvSpPr/>
          <p:nvPr/>
        </p:nvSpPr>
        <p:spPr>
          <a:xfrm>
            <a:off x="6629400" y="1508760"/>
            <a:ext cx="3474720" cy="274320"/>
          </a:xfrm>
          <a:prstGeom prst="rect">
            <a:avLst/>
          </a:prstGeom>
          <a:noFill/>
          <a:ln/>
        </p:spPr>
        <p:txBody>
          <a:bodyPr wrap="square" lIns="0" tIns="0" rIns="0" bIns="0" rtlCol="0" anchor="ctr"/>
          <a:lstStyle/>
          <a:p>
            <a:pPr indent="0" marL="0">
              <a:buNone/>
            </a:pPr>
            <a:r>
              <a:rPr lang="en-US" sz="2100" b="1" dirty="0">
                <a:solidFill>
                  <a:srgbClr val="0F172A"/>
                </a:solidFill>
              </a:rPr>
              <a:t>Kịch bản demo 5–7 phút</a:t>
            </a:r>
            <a:endParaRPr lang="en-US" sz="2100" dirty="0"/>
          </a:p>
        </p:txBody>
      </p:sp>
      <p:sp>
        <p:nvSpPr>
          <p:cNvPr id="9" name="Text 5"/>
          <p:cNvSpPr/>
          <p:nvPr/>
        </p:nvSpPr>
        <p:spPr>
          <a:xfrm>
            <a:off x="6629400" y="2057400"/>
            <a:ext cx="3931920" cy="2395728"/>
          </a:xfrm>
          <a:prstGeom prst="rect">
            <a:avLst/>
          </a:prstGeom>
          <a:noFill/>
          <a:ln/>
        </p:spPr>
        <p:txBody>
          <a:bodyPr wrap="square" lIns="381" tIns="381" rIns="381" bIns="381" rtlCol="0" anchor="t">
            <a:normAutofit/>
          </a:bodyPr>
          <a:lstStyle/>
          <a:p>
            <a:r>
              <a:rPr lang="en-US" sz="1320" dirty="0">
                <a:solidFill>
                  <a:srgbClr val="0F172A"/>
                </a:solidFill>
              </a:rPr>
              <a:t>Đăng nhập Event Coordinator bằng tài khoản demo.
</a:t>
            </a:r>
            <a:endParaRPr lang="en-US" sz="1320" dirty="0"/>
          </a:p>
          <a:p>
            <a:r>
              <a:rPr lang="en-US" sz="1320" dirty="0">
                <a:solidFill>
                  <a:srgbClr val="0F172A"/>
                </a:solidFill>
              </a:rPr>
              <a:t>Chọn SEAL Summer 2026, kiểm tra vòng/track/tiêu chí.
</a:t>
            </a:r>
            <a:endParaRPr lang="en-US" sz="1320" dirty="0"/>
          </a:p>
          <a:p>
            <a:r>
              <a:rPr lang="en-US" sz="1320" dirty="0">
                <a:solidFill>
                  <a:srgbClr val="0F172A"/>
                </a:solidFill>
              </a:rPr>
              <a:t>Duyệt đội đủ 3–5 thành viên và nộp bài theo URL.
</a:t>
            </a:r>
            <a:endParaRPr lang="en-US" sz="1320" dirty="0"/>
          </a:p>
          <a:p>
            <a:r>
              <a:rPr lang="en-US" sz="1320" dirty="0">
                <a:solidFill>
                  <a:srgbClr val="0F172A"/>
                </a:solidFill>
              </a:rPr>
              <a:t>Phân công judge, nhập điểm theo tiêu chí.
</a:t>
            </a:r>
            <a:endParaRPr lang="en-US" sz="1320" dirty="0"/>
          </a:p>
          <a:p>
            <a:r>
              <a:rPr lang="en-US" sz="1320" dirty="0">
                <a:solidFill>
                  <a:srgbClr val="0F172A"/>
                </a:solidFill>
              </a:rPr>
              <a:t>Tính ranking, xét Top N thăng vòng, xem RBL.</a:t>
            </a:r>
            <a:endParaRPr lang="en-US" sz="1320" dirty="0"/>
          </a:p>
        </p:txBody>
      </p:sp>
      <p:sp>
        <p:nvSpPr>
          <p:cNvPr id="10" name="Shape 6"/>
          <p:cNvSpPr/>
          <p:nvPr/>
        </p:nvSpPr>
        <p:spPr>
          <a:xfrm>
            <a:off x="6629400" y="4800600"/>
            <a:ext cx="2011680" cy="320040"/>
          </a:xfrm>
          <a:prstGeom prst="roundRect">
            <a:avLst>
              <a:gd name="adj" fmla="val 22857"/>
            </a:avLst>
          </a:prstGeom>
          <a:solidFill>
            <a:srgbClr val="EAF2FF"/>
          </a:solidFill>
          <a:ln w="12700">
            <a:solidFill>
              <a:srgbClr val="EAF2FF">
                <a:alpha val="0"/>
              </a:srgbClr>
            </a:solidFill>
            <a:prstDash val="solid"/>
          </a:ln>
        </p:spPr>
      </p:sp>
      <p:sp>
        <p:nvSpPr>
          <p:cNvPr id="11" name="Text 7"/>
          <p:cNvSpPr/>
          <p:nvPr/>
        </p:nvSpPr>
        <p:spPr>
          <a:xfrm>
            <a:off x="6702552" y="4873752"/>
            <a:ext cx="1865376" cy="146304"/>
          </a:xfrm>
          <a:prstGeom prst="rect">
            <a:avLst/>
          </a:prstGeom>
          <a:noFill/>
          <a:ln/>
        </p:spPr>
        <p:txBody>
          <a:bodyPr wrap="square" lIns="0" tIns="0" rIns="0" bIns="0" rtlCol="0" anchor="ctr"/>
          <a:lstStyle/>
          <a:p>
            <a:pPr algn="ctr" indent="0" marL="0">
              <a:buNone/>
            </a:pPr>
            <a:r>
              <a:rPr lang="en-US" sz="750" b="1" dirty="0">
                <a:solidFill>
                  <a:srgbClr val="0B4FD8"/>
                </a:solidFill>
              </a:rPr>
              <a:t>Mật khẩu demo: 123456</a:t>
            </a:r>
            <a:endParaRPr lang="en-US" sz="750" dirty="0"/>
          </a:p>
        </p:txBody>
      </p:sp>
      <p:sp>
        <p:nvSpPr>
          <p:cNvPr id="12" name="Text 8"/>
          <p:cNvSpPr/>
          <p:nvPr/>
        </p:nvSpPr>
        <p:spPr>
          <a:xfrm>
            <a:off x="6629400" y="5257800"/>
            <a:ext cx="3931920" cy="164592"/>
          </a:xfrm>
          <a:prstGeom prst="rect">
            <a:avLst/>
          </a:prstGeom>
          <a:noFill/>
          <a:ln/>
        </p:spPr>
        <p:txBody>
          <a:bodyPr wrap="square" lIns="0" tIns="0" rIns="0" bIns="0" rtlCol="0" anchor="ctr">
            <a:normAutofit/>
          </a:bodyPr>
          <a:lstStyle/>
          <a:p>
            <a:pPr indent="0" marL="0">
              <a:buNone/>
            </a:pPr>
            <a:r>
              <a:rPr lang="en-US" sz="950" dirty="0">
                <a:solidFill>
                  <a:srgbClr val="64748B"/>
                </a:solidFill>
              </a:rPr>
              <a:t>coordinator@seal.edu.vn · judge@seal.edu.vn · leader1@seal.edu.vn</a:t>
            </a:r>
            <a:endParaRPr lang="en-US" sz="950" dirty="0"/>
          </a:p>
        </p:txBody>
      </p:sp>
      <p:sp>
        <p:nvSpPr>
          <p:cNvPr id="13" name="Shape 9"/>
          <p:cNvSpPr/>
          <p:nvPr/>
        </p:nvSpPr>
        <p:spPr>
          <a:xfrm>
            <a:off x="594360" y="6473952"/>
            <a:ext cx="11018520" cy="0"/>
          </a:xfrm>
          <a:prstGeom prst="line">
            <a:avLst/>
          </a:prstGeom>
          <a:noFill/>
          <a:ln w="10160">
            <a:solidFill>
              <a:srgbClr val="D8E4F7"/>
            </a:solidFill>
            <a:prstDash val="solid"/>
          </a:ln>
        </p:spPr>
      </p:sp>
      <p:sp>
        <p:nvSpPr>
          <p:cNvPr id="14" name="Text 10"/>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15" name="Text 11"/>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04 · TRIỂN KHAI</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API, xác thực và bảo mật</a:t>
            </a:r>
            <a:endParaRPr lang="en-US" sz="2700" dirty="0"/>
          </a:p>
        </p:txBody>
      </p:sp>
      <p:sp>
        <p:nvSpPr>
          <p:cNvPr id="5" name="Shape 3"/>
          <p:cNvSpPr/>
          <p:nvPr/>
        </p:nvSpPr>
        <p:spPr>
          <a:xfrm>
            <a:off x="868680" y="1417320"/>
            <a:ext cx="2011680" cy="941832"/>
          </a:xfrm>
          <a:prstGeom prst="roundRect">
            <a:avLst>
              <a:gd name="adj" fmla="val 14563"/>
            </a:avLst>
          </a:prstGeom>
          <a:solidFill>
            <a:srgbClr val="FFFFFF"/>
          </a:solidFill>
          <a:ln w="12700">
            <a:solidFill>
              <a:srgbClr val="D8E4F7"/>
            </a:solidFill>
            <a:prstDash val="solid"/>
          </a:ln>
        </p:spPr>
      </p:sp>
      <p:sp>
        <p:nvSpPr>
          <p:cNvPr id="6" name="Text 4"/>
          <p:cNvSpPr/>
          <p:nvPr/>
        </p:nvSpPr>
        <p:spPr>
          <a:xfrm>
            <a:off x="1033272" y="1691640"/>
            <a:ext cx="1664208" cy="146304"/>
          </a:xfrm>
          <a:prstGeom prst="rect">
            <a:avLst/>
          </a:prstGeom>
          <a:noFill/>
          <a:ln/>
        </p:spPr>
        <p:txBody>
          <a:bodyPr wrap="square" lIns="0" tIns="0" rIns="0" bIns="0" rtlCol="0" anchor="ctr"/>
          <a:lstStyle/>
          <a:p>
            <a:pPr algn="ctr" indent="0" marL="0">
              <a:buNone/>
            </a:pPr>
            <a:r>
              <a:rPr lang="en-US" sz="1400" b="1" dirty="0">
                <a:solidFill>
                  <a:srgbClr val="0F172A"/>
                </a:solidFill>
              </a:rPr>
              <a:t>Login</a:t>
            </a:r>
            <a:endParaRPr lang="en-US" sz="1400" dirty="0"/>
          </a:p>
        </p:txBody>
      </p:sp>
      <p:sp>
        <p:nvSpPr>
          <p:cNvPr id="7" name="Text 5"/>
          <p:cNvSpPr/>
          <p:nvPr/>
        </p:nvSpPr>
        <p:spPr>
          <a:xfrm>
            <a:off x="1033272" y="1975104"/>
            <a:ext cx="1664208" cy="109728"/>
          </a:xfrm>
          <a:prstGeom prst="rect">
            <a:avLst/>
          </a:prstGeom>
          <a:noFill/>
          <a:ln/>
        </p:spPr>
        <p:txBody>
          <a:bodyPr wrap="square" lIns="0" tIns="0" rIns="0" bIns="0" rtlCol="0" anchor="ctr">
            <a:normAutofit/>
          </a:bodyPr>
          <a:lstStyle/>
          <a:p>
            <a:pPr algn="ctr" indent="0" marL="0">
              <a:buNone/>
            </a:pPr>
            <a:r>
              <a:rPr lang="en-US" sz="840" dirty="0">
                <a:solidFill>
                  <a:srgbClr val="64748B"/>
                </a:solidFill>
              </a:rPr>
              <a:t>email/password</a:t>
            </a:r>
            <a:endParaRPr lang="en-US" sz="840" dirty="0"/>
          </a:p>
        </p:txBody>
      </p:sp>
      <p:sp>
        <p:nvSpPr>
          <p:cNvPr id="8" name="Shape 6"/>
          <p:cNvSpPr/>
          <p:nvPr/>
        </p:nvSpPr>
        <p:spPr>
          <a:xfrm>
            <a:off x="2926080" y="1892808"/>
            <a:ext cx="246888" cy="0"/>
          </a:xfrm>
          <a:prstGeom prst="line">
            <a:avLst/>
          </a:prstGeom>
          <a:noFill/>
          <a:ln w="27940">
            <a:solidFill>
              <a:srgbClr val="2563EB"/>
            </a:solidFill>
            <a:prstDash val="solid"/>
            <a:headEnd type="none"/>
            <a:tailEnd type="triangle"/>
          </a:ln>
        </p:spPr>
      </p:sp>
      <p:sp>
        <p:nvSpPr>
          <p:cNvPr id="9" name="Shape 7"/>
          <p:cNvSpPr/>
          <p:nvPr/>
        </p:nvSpPr>
        <p:spPr>
          <a:xfrm>
            <a:off x="3337560" y="1417320"/>
            <a:ext cx="2011680" cy="941832"/>
          </a:xfrm>
          <a:prstGeom prst="roundRect">
            <a:avLst>
              <a:gd name="adj" fmla="val 14563"/>
            </a:avLst>
          </a:prstGeom>
          <a:solidFill>
            <a:srgbClr val="0B4FD8"/>
          </a:solidFill>
          <a:ln w="12700">
            <a:solidFill>
              <a:srgbClr val="0B4FD8"/>
            </a:solidFill>
            <a:prstDash val="solid"/>
          </a:ln>
        </p:spPr>
      </p:sp>
      <p:sp>
        <p:nvSpPr>
          <p:cNvPr id="10" name="Text 8"/>
          <p:cNvSpPr/>
          <p:nvPr/>
        </p:nvSpPr>
        <p:spPr>
          <a:xfrm>
            <a:off x="3502152" y="1691640"/>
            <a:ext cx="1664208" cy="146304"/>
          </a:xfrm>
          <a:prstGeom prst="rect">
            <a:avLst/>
          </a:prstGeom>
          <a:noFill/>
          <a:ln/>
        </p:spPr>
        <p:txBody>
          <a:bodyPr wrap="square" lIns="0" tIns="0" rIns="0" bIns="0" rtlCol="0" anchor="ctr"/>
          <a:lstStyle/>
          <a:p>
            <a:pPr algn="ctr" indent="0" marL="0">
              <a:buNone/>
            </a:pPr>
            <a:r>
              <a:rPr lang="en-US" sz="1400" b="1" dirty="0">
                <a:solidFill>
                  <a:srgbClr val="FFFFFF"/>
                </a:solidFill>
              </a:rPr>
              <a:t>JWT</a:t>
            </a:r>
            <a:endParaRPr lang="en-US" sz="1400" dirty="0"/>
          </a:p>
        </p:txBody>
      </p:sp>
      <p:sp>
        <p:nvSpPr>
          <p:cNvPr id="11" name="Text 9"/>
          <p:cNvSpPr/>
          <p:nvPr/>
        </p:nvSpPr>
        <p:spPr>
          <a:xfrm>
            <a:off x="3502152" y="1975104"/>
            <a:ext cx="1664208" cy="109728"/>
          </a:xfrm>
          <a:prstGeom prst="rect">
            <a:avLst/>
          </a:prstGeom>
          <a:noFill/>
          <a:ln/>
        </p:spPr>
        <p:txBody>
          <a:bodyPr wrap="square" lIns="0" tIns="0" rIns="0" bIns="0" rtlCol="0" anchor="ctr">
            <a:normAutofit/>
          </a:bodyPr>
          <a:lstStyle/>
          <a:p>
            <a:pPr algn="ctr" indent="0" marL="0">
              <a:buNone/>
            </a:pPr>
            <a:r>
              <a:rPr lang="en-US" sz="840" dirty="0">
                <a:solidFill>
                  <a:srgbClr val="FFFFFF"/>
                </a:solidFill>
              </a:rPr>
              <a:t>Backend phát token</a:t>
            </a:r>
            <a:endParaRPr lang="en-US" sz="840" dirty="0"/>
          </a:p>
        </p:txBody>
      </p:sp>
      <p:sp>
        <p:nvSpPr>
          <p:cNvPr id="12" name="Shape 10"/>
          <p:cNvSpPr/>
          <p:nvPr/>
        </p:nvSpPr>
        <p:spPr>
          <a:xfrm>
            <a:off x="5394960" y="1892808"/>
            <a:ext cx="246888" cy="0"/>
          </a:xfrm>
          <a:prstGeom prst="line">
            <a:avLst/>
          </a:prstGeom>
          <a:noFill/>
          <a:ln w="27940">
            <a:solidFill>
              <a:srgbClr val="2563EB"/>
            </a:solidFill>
            <a:prstDash val="solid"/>
            <a:headEnd type="none"/>
            <a:tailEnd type="triangle"/>
          </a:ln>
        </p:spPr>
      </p:sp>
      <p:sp>
        <p:nvSpPr>
          <p:cNvPr id="13" name="Shape 11"/>
          <p:cNvSpPr/>
          <p:nvPr/>
        </p:nvSpPr>
        <p:spPr>
          <a:xfrm>
            <a:off x="5806440" y="1417320"/>
            <a:ext cx="2011680" cy="941832"/>
          </a:xfrm>
          <a:prstGeom prst="roundRect">
            <a:avLst>
              <a:gd name="adj" fmla="val 14563"/>
            </a:avLst>
          </a:prstGeom>
          <a:solidFill>
            <a:srgbClr val="FFFFFF"/>
          </a:solidFill>
          <a:ln w="12700">
            <a:solidFill>
              <a:srgbClr val="D8E4F7"/>
            </a:solidFill>
            <a:prstDash val="solid"/>
          </a:ln>
        </p:spPr>
      </p:sp>
      <p:sp>
        <p:nvSpPr>
          <p:cNvPr id="14" name="Text 12"/>
          <p:cNvSpPr/>
          <p:nvPr/>
        </p:nvSpPr>
        <p:spPr>
          <a:xfrm>
            <a:off x="5971032" y="1691640"/>
            <a:ext cx="1664208" cy="146304"/>
          </a:xfrm>
          <a:prstGeom prst="rect">
            <a:avLst/>
          </a:prstGeom>
          <a:noFill/>
          <a:ln/>
        </p:spPr>
        <p:txBody>
          <a:bodyPr wrap="square" lIns="0" tIns="0" rIns="0" bIns="0" rtlCol="0" anchor="ctr"/>
          <a:lstStyle/>
          <a:p>
            <a:pPr algn="ctr" indent="0" marL="0">
              <a:buNone/>
            </a:pPr>
            <a:r>
              <a:rPr lang="en-US" sz="1400" b="1" dirty="0">
                <a:solidFill>
                  <a:srgbClr val="0F172A"/>
                </a:solidFill>
              </a:rPr>
              <a:t>Request</a:t>
            </a:r>
            <a:endParaRPr lang="en-US" sz="1400" dirty="0"/>
          </a:p>
        </p:txBody>
      </p:sp>
      <p:sp>
        <p:nvSpPr>
          <p:cNvPr id="15" name="Text 13"/>
          <p:cNvSpPr/>
          <p:nvPr/>
        </p:nvSpPr>
        <p:spPr>
          <a:xfrm>
            <a:off x="5971032" y="1975104"/>
            <a:ext cx="1664208" cy="109728"/>
          </a:xfrm>
          <a:prstGeom prst="rect">
            <a:avLst/>
          </a:prstGeom>
          <a:noFill/>
          <a:ln/>
        </p:spPr>
        <p:txBody>
          <a:bodyPr wrap="square" lIns="0" tIns="0" rIns="0" bIns="0" rtlCol="0" anchor="ctr">
            <a:normAutofit/>
          </a:bodyPr>
          <a:lstStyle/>
          <a:p>
            <a:pPr algn="ctr" indent="0" marL="0">
              <a:buNone/>
            </a:pPr>
            <a:r>
              <a:rPr lang="en-US" sz="840" dirty="0">
                <a:solidFill>
                  <a:srgbClr val="64748B"/>
                </a:solidFill>
              </a:rPr>
              <a:t>Authorization: Bearer</a:t>
            </a:r>
            <a:endParaRPr lang="en-US" sz="840" dirty="0"/>
          </a:p>
        </p:txBody>
      </p:sp>
      <p:sp>
        <p:nvSpPr>
          <p:cNvPr id="16" name="Shape 14"/>
          <p:cNvSpPr/>
          <p:nvPr/>
        </p:nvSpPr>
        <p:spPr>
          <a:xfrm>
            <a:off x="7863840" y="1892808"/>
            <a:ext cx="246888" cy="0"/>
          </a:xfrm>
          <a:prstGeom prst="line">
            <a:avLst/>
          </a:prstGeom>
          <a:noFill/>
          <a:ln w="27940">
            <a:solidFill>
              <a:srgbClr val="2563EB"/>
            </a:solidFill>
            <a:prstDash val="solid"/>
            <a:headEnd type="none"/>
            <a:tailEnd type="triangle"/>
          </a:ln>
        </p:spPr>
      </p:sp>
      <p:sp>
        <p:nvSpPr>
          <p:cNvPr id="17" name="Shape 15"/>
          <p:cNvSpPr/>
          <p:nvPr/>
        </p:nvSpPr>
        <p:spPr>
          <a:xfrm>
            <a:off x="8275320" y="1417320"/>
            <a:ext cx="2011680" cy="941832"/>
          </a:xfrm>
          <a:prstGeom prst="roundRect">
            <a:avLst>
              <a:gd name="adj" fmla="val 14563"/>
            </a:avLst>
          </a:prstGeom>
          <a:solidFill>
            <a:srgbClr val="FFFFFF"/>
          </a:solidFill>
          <a:ln w="12700">
            <a:solidFill>
              <a:srgbClr val="D8E4F7"/>
            </a:solidFill>
            <a:prstDash val="solid"/>
          </a:ln>
        </p:spPr>
      </p:sp>
      <p:sp>
        <p:nvSpPr>
          <p:cNvPr id="18" name="Text 16"/>
          <p:cNvSpPr/>
          <p:nvPr/>
        </p:nvSpPr>
        <p:spPr>
          <a:xfrm>
            <a:off x="8439912" y="1691640"/>
            <a:ext cx="1664208" cy="146304"/>
          </a:xfrm>
          <a:prstGeom prst="rect">
            <a:avLst/>
          </a:prstGeom>
          <a:noFill/>
          <a:ln/>
        </p:spPr>
        <p:txBody>
          <a:bodyPr wrap="square" lIns="0" tIns="0" rIns="0" bIns="0" rtlCol="0" anchor="ctr"/>
          <a:lstStyle/>
          <a:p>
            <a:pPr algn="ctr" indent="0" marL="0">
              <a:buNone/>
            </a:pPr>
            <a:r>
              <a:rPr lang="en-US" sz="1400" b="1" dirty="0">
                <a:solidFill>
                  <a:srgbClr val="0F172A"/>
                </a:solidFill>
              </a:rPr>
              <a:t>Protected API</a:t>
            </a:r>
            <a:endParaRPr lang="en-US" sz="1400" dirty="0"/>
          </a:p>
        </p:txBody>
      </p:sp>
      <p:sp>
        <p:nvSpPr>
          <p:cNvPr id="19" name="Text 17"/>
          <p:cNvSpPr/>
          <p:nvPr/>
        </p:nvSpPr>
        <p:spPr>
          <a:xfrm>
            <a:off x="8439912" y="1975104"/>
            <a:ext cx="1664208" cy="109728"/>
          </a:xfrm>
          <a:prstGeom prst="rect">
            <a:avLst/>
          </a:prstGeom>
          <a:noFill/>
          <a:ln/>
        </p:spPr>
        <p:txBody>
          <a:bodyPr wrap="square" lIns="0" tIns="0" rIns="0" bIns="0" rtlCol="0" anchor="ctr">
            <a:normAutofit/>
          </a:bodyPr>
          <a:lstStyle/>
          <a:p>
            <a:pPr algn="ctr" indent="0" marL="0">
              <a:buNone/>
            </a:pPr>
            <a:r>
              <a:rPr lang="en-US" sz="840" dirty="0">
                <a:solidFill>
                  <a:srgbClr val="64748B"/>
                </a:solidFill>
              </a:rPr>
              <a:t>Controller xử lý</a:t>
            </a:r>
            <a:endParaRPr lang="en-US" sz="840" dirty="0"/>
          </a:p>
        </p:txBody>
      </p:sp>
      <p:sp>
        <p:nvSpPr>
          <p:cNvPr id="20" name="Shape 18"/>
          <p:cNvSpPr/>
          <p:nvPr/>
        </p:nvSpPr>
        <p:spPr>
          <a:xfrm>
            <a:off x="868680" y="3154680"/>
            <a:ext cx="3063240" cy="621792"/>
          </a:xfrm>
          <a:prstGeom prst="roundRect">
            <a:avLst>
              <a:gd name="adj" fmla="val 17647"/>
            </a:avLst>
          </a:prstGeom>
          <a:solidFill>
            <a:srgbClr val="FFFFFF"/>
          </a:solidFill>
          <a:ln w="12700">
            <a:solidFill>
              <a:srgbClr val="D8E4F7"/>
            </a:solidFill>
            <a:prstDash val="solid"/>
          </a:ln>
        </p:spPr>
      </p:sp>
      <p:sp>
        <p:nvSpPr>
          <p:cNvPr id="21" name="Shape 19"/>
          <p:cNvSpPr/>
          <p:nvPr/>
        </p:nvSpPr>
        <p:spPr>
          <a:xfrm>
            <a:off x="868680" y="3154680"/>
            <a:ext cx="73152" cy="621792"/>
          </a:xfrm>
          <a:prstGeom prst="rect">
            <a:avLst/>
          </a:prstGeom>
          <a:solidFill>
            <a:srgbClr val="0B4FD8"/>
          </a:solidFill>
          <a:ln w="12700">
            <a:solidFill>
              <a:srgbClr val="0B4FD8">
                <a:alpha val="0"/>
              </a:srgbClr>
            </a:solidFill>
            <a:prstDash val="solid"/>
          </a:ln>
        </p:spPr>
      </p:sp>
      <p:sp>
        <p:nvSpPr>
          <p:cNvPr id="22" name="Text 20"/>
          <p:cNvSpPr/>
          <p:nvPr/>
        </p:nvSpPr>
        <p:spPr>
          <a:xfrm>
            <a:off x="1097280" y="3355848"/>
            <a:ext cx="2697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Auth</a:t>
            </a:r>
            <a:endParaRPr lang="en-US" sz="1200" dirty="0"/>
          </a:p>
        </p:txBody>
      </p:sp>
      <p:sp>
        <p:nvSpPr>
          <p:cNvPr id="23" name="Text 21"/>
          <p:cNvSpPr/>
          <p:nvPr/>
        </p:nvSpPr>
        <p:spPr>
          <a:xfrm>
            <a:off x="1097280" y="3721608"/>
            <a:ext cx="271576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register · login · forgot/reset password</a:t>
            </a:r>
            <a:endParaRPr lang="en-US" sz="1050" dirty="0"/>
          </a:p>
        </p:txBody>
      </p:sp>
      <p:sp>
        <p:nvSpPr>
          <p:cNvPr id="24" name="Shape 22"/>
          <p:cNvSpPr/>
          <p:nvPr/>
        </p:nvSpPr>
        <p:spPr>
          <a:xfrm>
            <a:off x="4343400" y="3154680"/>
            <a:ext cx="3063240" cy="621792"/>
          </a:xfrm>
          <a:prstGeom prst="roundRect">
            <a:avLst>
              <a:gd name="adj" fmla="val 17647"/>
            </a:avLst>
          </a:prstGeom>
          <a:solidFill>
            <a:srgbClr val="FFFFFF"/>
          </a:solidFill>
          <a:ln w="12700">
            <a:solidFill>
              <a:srgbClr val="D8E4F7"/>
            </a:solidFill>
            <a:prstDash val="solid"/>
          </a:ln>
        </p:spPr>
      </p:sp>
      <p:sp>
        <p:nvSpPr>
          <p:cNvPr id="25" name="Shape 23"/>
          <p:cNvSpPr/>
          <p:nvPr/>
        </p:nvSpPr>
        <p:spPr>
          <a:xfrm>
            <a:off x="4343400" y="3154680"/>
            <a:ext cx="73152" cy="621792"/>
          </a:xfrm>
          <a:prstGeom prst="rect">
            <a:avLst/>
          </a:prstGeom>
          <a:solidFill>
            <a:srgbClr val="14B8A6"/>
          </a:solidFill>
          <a:ln w="12700">
            <a:solidFill>
              <a:srgbClr val="14B8A6">
                <a:alpha val="0"/>
              </a:srgbClr>
            </a:solidFill>
            <a:prstDash val="solid"/>
          </a:ln>
        </p:spPr>
      </p:sp>
      <p:sp>
        <p:nvSpPr>
          <p:cNvPr id="26" name="Text 24"/>
          <p:cNvSpPr/>
          <p:nvPr/>
        </p:nvSpPr>
        <p:spPr>
          <a:xfrm>
            <a:off x="4572000" y="3355848"/>
            <a:ext cx="2697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Admin</a:t>
            </a:r>
            <a:endParaRPr lang="en-US" sz="1200" dirty="0"/>
          </a:p>
        </p:txBody>
      </p:sp>
      <p:sp>
        <p:nvSpPr>
          <p:cNvPr id="27" name="Text 25"/>
          <p:cNvSpPr/>
          <p:nvPr/>
        </p:nvSpPr>
        <p:spPr>
          <a:xfrm>
            <a:off x="4572000" y="3721608"/>
            <a:ext cx="271576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approve/reject user · create staff account</a:t>
            </a:r>
            <a:endParaRPr lang="en-US" sz="1050" dirty="0"/>
          </a:p>
        </p:txBody>
      </p:sp>
      <p:sp>
        <p:nvSpPr>
          <p:cNvPr id="28" name="Shape 26"/>
          <p:cNvSpPr/>
          <p:nvPr/>
        </p:nvSpPr>
        <p:spPr>
          <a:xfrm>
            <a:off x="7818120" y="3154680"/>
            <a:ext cx="3063240" cy="621792"/>
          </a:xfrm>
          <a:prstGeom prst="roundRect">
            <a:avLst>
              <a:gd name="adj" fmla="val 17647"/>
            </a:avLst>
          </a:prstGeom>
          <a:solidFill>
            <a:srgbClr val="FFFFFF"/>
          </a:solidFill>
          <a:ln w="12700">
            <a:solidFill>
              <a:srgbClr val="D8E4F7"/>
            </a:solidFill>
            <a:prstDash val="solid"/>
          </a:ln>
        </p:spPr>
      </p:sp>
      <p:sp>
        <p:nvSpPr>
          <p:cNvPr id="29" name="Shape 27"/>
          <p:cNvSpPr/>
          <p:nvPr/>
        </p:nvSpPr>
        <p:spPr>
          <a:xfrm>
            <a:off x="7818120" y="3154680"/>
            <a:ext cx="73152" cy="621792"/>
          </a:xfrm>
          <a:prstGeom prst="rect">
            <a:avLst/>
          </a:prstGeom>
          <a:solidFill>
            <a:srgbClr val="F97316"/>
          </a:solidFill>
          <a:ln w="12700">
            <a:solidFill>
              <a:srgbClr val="F97316">
                <a:alpha val="0"/>
              </a:srgbClr>
            </a:solidFill>
            <a:prstDash val="solid"/>
          </a:ln>
        </p:spPr>
      </p:sp>
      <p:sp>
        <p:nvSpPr>
          <p:cNvPr id="30" name="Text 28"/>
          <p:cNvSpPr/>
          <p:nvPr/>
        </p:nvSpPr>
        <p:spPr>
          <a:xfrm>
            <a:off x="8046720" y="3355848"/>
            <a:ext cx="2697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Event</a:t>
            </a:r>
            <a:endParaRPr lang="en-US" sz="1200" dirty="0"/>
          </a:p>
        </p:txBody>
      </p:sp>
      <p:sp>
        <p:nvSpPr>
          <p:cNvPr id="31" name="Text 29"/>
          <p:cNvSpPr/>
          <p:nvPr/>
        </p:nvSpPr>
        <p:spPr>
          <a:xfrm>
            <a:off x="8046720" y="3721608"/>
            <a:ext cx="271576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events · tracks · rounds · standings</a:t>
            </a:r>
            <a:endParaRPr lang="en-US" sz="1050" dirty="0"/>
          </a:p>
        </p:txBody>
      </p:sp>
      <p:sp>
        <p:nvSpPr>
          <p:cNvPr id="32" name="Shape 30"/>
          <p:cNvSpPr/>
          <p:nvPr/>
        </p:nvSpPr>
        <p:spPr>
          <a:xfrm>
            <a:off x="868680" y="3995928"/>
            <a:ext cx="3063240" cy="621792"/>
          </a:xfrm>
          <a:prstGeom prst="roundRect">
            <a:avLst>
              <a:gd name="adj" fmla="val 17647"/>
            </a:avLst>
          </a:prstGeom>
          <a:solidFill>
            <a:srgbClr val="FFFFFF"/>
          </a:solidFill>
          <a:ln w="12700">
            <a:solidFill>
              <a:srgbClr val="D8E4F7"/>
            </a:solidFill>
            <a:prstDash val="solid"/>
          </a:ln>
        </p:spPr>
      </p:sp>
      <p:sp>
        <p:nvSpPr>
          <p:cNvPr id="33" name="Shape 31"/>
          <p:cNvSpPr/>
          <p:nvPr/>
        </p:nvSpPr>
        <p:spPr>
          <a:xfrm>
            <a:off x="868680" y="3995928"/>
            <a:ext cx="73152" cy="621792"/>
          </a:xfrm>
          <a:prstGeom prst="rect">
            <a:avLst/>
          </a:prstGeom>
          <a:solidFill>
            <a:srgbClr val="10B981"/>
          </a:solidFill>
          <a:ln w="12700">
            <a:solidFill>
              <a:srgbClr val="10B981">
                <a:alpha val="0"/>
              </a:srgbClr>
            </a:solidFill>
            <a:prstDash val="solid"/>
          </a:ln>
        </p:spPr>
      </p:sp>
      <p:sp>
        <p:nvSpPr>
          <p:cNvPr id="34" name="Text 32"/>
          <p:cNvSpPr/>
          <p:nvPr/>
        </p:nvSpPr>
        <p:spPr>
          <a:xfrm>
            <a:off x="1097280" y="4197096"/>
            <a:ext cx="2697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Team</a:t>
            </a:r>
            <a:endParaRPr lang="en-US" sz="1200" dirty="0"/>
          </a:p>
        </p:txBody>
      </p:sp>
      <p:sp>
        <p:nvSpPr>
          <p:cNvPr id="35" name="Text 33"/>
          <p:cNvSpPr/>
          <p:nvPr/>
        </p:nvSpPr>
        <p:spPr>
          <a:xfrm>
            <a:off x="1097280" y="4562856"/>
            <a:ext cx="271576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teams · team-members · submissions · eliminate</a:t>
            </a:r>
            <a:endParaRPr lang="en-US" sz="1050" dirty="0"/>
          </a:p>
        </p:txBody>
      </p:sp>
      <p:sp>
        <p:nvSpPr>
          <p:cNvPr id="36" name="Shape 34"/>
          <p:cNvSpPr/>
          <p:nvPr/>
        </p:nvSpPr>
        <p:spPr>
          <a:xfrm>
            <a:off x="4343400" y="3995928"/>
            <a:ext cx="3063240" cy="621792"/>
          </a:xfrm>
          <a:prstGeom prst="roundRect">
            <a:avLst>
              <a:gd name="adj" fmla="val 17647"/>
            </a:avLst>
          </a:prstGeom>
          <a:solidFill>
            <a:srgbClr val="FFFFFF"/>
          </a:solidFill>
          <a:ln w="12700">
            <a:solidFill>
              <a:srgbClr val="D8E4F7"/>
            </a:solidFill>
            <a:prstDash val="solid"/>
          </a:ln>
        </p:spPr>
      </p:sp>
      <p:sp>
        <p:nvSpPr>
          <p:cNvPr id="37" name="Shape 35"/>
          <p:cNvSpPr/>
          <p:nvPr/>
        </p:nvSpPr>
        <p:spPr>
          <a:xfrm>
            <a:off x="4343400" y="3995928"/>
            <a:ext cx="73152" cy="621792"/>
          </a:xfrm>
          <a:prstGeom prst="rect">
            <a:avLst/>
          </a:prstGeom>
          <a:solidFill>
            <a:srgbClr val="EF4444"/>
          </a:solidFill>
          <a:ln w="12700">
            <a:solidFill>
              <a:srgbClr val="EF4444">
                <a:alpha val="0"/>
              </a:srgbClr>
            </a:solidFill>
            <a:prstDash val="solid"/>
          </a:ln>
        </p:spPr>
      </p:sp>
      <p:sp>
        <p:nvSpPr>
          <p:cNvPr id="38" name="Text 36"/>
          <p:cNvSpPr/>
          <p:nvPr/>
        </p:nvSpPr>
        <p:spPr>
          <a:xfrm>
            <a:off x="4572000" y="4197096"/>
            <a:ext cx="2697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Score</a:t>
            </a:r>
            <a:endParaRPr lang="en-US" sz="1200" dirty="0"/>
          </a:p>
        </p:txBody>
      </p:sp>
      <p:sp>
        <p:nvSpPr>
          <p:cNvPr id="39" name="Text 37"/>
          <p:cNvSpPr/>
          <p:nvPr/>
        </p:nvSpPr>
        <p:spPr>
          <a:xfrm>
            <a:off x="4572000" y="4562856"/>
            <a:ext cx="271576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judge-assignments · scores · rankings · advance</a:t>
            </a:r>
            <a:endParaRPr lang="en-US" sz="1050" dirty="0"/>
          </a:p>
        </p:txBody>
      </p:sp>
      <p:sp>
        <p:nvSpPr>
          <p:cNvPr id="40" name="Shape 38"/>
          <p:cNvSpPr/>
          <p:nvPr/>
        </p:nvSpPr>
        <p:spPr>
          <a:xfrm>
            <a:off x="7818120" y="3995928"/>
            <a:ext cx="3063240" cy="621792"/>
          </a:xfrm>
          <a:prstGeom prst="roundRect">
            <a:avLst>
              <a:gd name="adj" fmla="val 17647"/>
            </a:avLst>
          </a:prstGeom>
          <a:solidFill>
            <a:srgbClr val="FFFFFF"/>
          </a:solidFill>
          <a:ln w="12700">
            <a:solidFill>
              <a:srgbClr val="D8E4F7"/>
            </a:solidFill>
            <a:prstDash val="solid"/>
          </a:ln>
        </p:spPr>
      </p:sp>
      <p:sp>
        <p:nvSpPr>
          <p:cNvPr id="41" name="Shape 39"/>
          <p:cNvSpPr/>
          <p:nvPr/>
        </p:nvSpPr>
        <p:spPr>
          <a:xfrm>
            <a:off x="7818120" y="3995928"/>
            <a:ext cx="73152" cy="621792"/>
          </a:xfrm>
          <a:prstGeom prst="rect">
            <a:avLst/>
          </a:prstGeom>
          <a:solidFill>
            <a:srgbClr val="2563EB"/>
          </a:solidFill>
          <a:ln w="12700">
            <a:solidFill>
              <a:srgbClr val="2563EB">
                <a:alpha val="0"/>
              </a:srgbClr>
            </a:solidFill>
            <a:prstDash val="solid"/>
          </a:ln>
        </p:spPr>
      </p:sp>
      <p:sp>
        <p:nvSpPr>
          <p:cNvPr id="42" name="Text 40"/>
          <p:cNvSpPr/>
          <p:nvPr/>
        </p:nvSpPr>
        <p:spPr>
          <a:xfrm>
            <a:off x="8046720" y="4197096"/>
            <a:ext cx="269748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Research</a:t>
            </a:r>
            <a:endParaRPr lang="en-US" sz="1200" dirty="0"/>
          </a:p>
        </p:txBody>
      </p:sp>
      <p:sp>
        <p:nvSpPr>
          <p:cNvPr id="43" name="Text 41"/>
          <p:cNvSpPr/>
          <p:nvPr/>
        </p:nvSpPr>
        <p:spPr>
          <a:xfrm>
            <a:off x="8046720" y="4562856"/>
            <a:ext cx="271576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judge-scores · variance · reliability-summary · CSV</a:t>
            </a:r>
            <a:endParaRPr lang="en-US" sz="1050" dirty="0"/>
          </a:p>
        </p:txBody>
      </p:sp>
      <p:sp>
        <p:nvSpPr>
          <p:cNvPr id="44" name="Text 42"/>
          <p:cNvSpPr/>
          <p:nvPr/>
        </p:nvSpPr>
        <p:spPr>
          <a:xfrm>
            <a:off x="868680" y="5257800"/>
            <a:ext cx="10332720" cy="365760"/>
          </a:xfrm>
          <a:prstGeom prst="rect">
            <a:avLst/>
          </a:prstGeom>
          <a:noFill/>
          <a:ln/>
        </p:spPr>
        <p:txBody>
          <a:bodyPr wrap="square" lIns="0" tIns="0" rIns="0" bIns="0" rtlCol="0" anchor="ctr">
            <a:normAutofit/>
          </a:bodyPr>
          <a:lstStyle/>
          <a:p>
            <a:pPr algn="ctr" indent="0" marL="0">
              <a:buNone/>
            </a:pPr>
            <a:r>
              <a:rPr lang="en-US" sz="1420" dirty="0">
                <a:solidFill>
                  <a:srgbClr val="64748B"/>
                </a:solidFill>
              </a:rPr>
              <a:t>Spring Security hoạt động stateless; mật khẩu mã hóa BCrypt; Swagger/OpenAPI giúp kiểm thử API trực tiếp trên trình duyệt.</a:t>
            </a:r>
            <a:endParaRPr lang="en-US" sz="1420" dirty="0"/>
          </a:p>
        </p:txBody>
      </p:sp>
      <p:sp>
        <p:nvSpPr>
          <p:cNvPr id="45" name="Shape 43"/>
          <p:cNvSpPr/>
          <p:nvPr/>
        </p:nvSpPr>
        <p:spPr>
          <a:xfrm>
            <a:off x="594360" y="6473952"/>
            <a:ext cx="11018520" cy="0"/>
          </a:xfrm>
          <a:prstGeom prst="line">
            <a:avLst/>
          </a:prstGeom>
          <a:noFill/>
          <a:ln w="10160">
            <a:solidFill>
              <a:srgbClr val="D8E4F7"/>
            </a:solidFill>
            <a:prstDash val="solid"/>
          </a:ln>
        </p:spPr>
      </p:sp>
      <p:sp>
        <p:nvSpPr>
          <p:cNvPr id="46" name="Text 44"/>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47" name="Text 45"/>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04 · TRIỂN KHAI</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Cài đặt, chạy hệ thống &amp; kiểm thử</a:t>
            </a:r>
            <a:endParaRPr lang="en-US" sz="2700" dirty="0"/>
          </a:p>
        </p:txBody>
      </p:sp>
      <p:sp>
        <p:nvSpPr>
          <p:cNvPr id="5" name="Shape 3"/>
          <p:cNvSpPr/>
          <p:nvPr/>
        </p:nvSpPr>
        <p:spPr>
          <a:xfrm>
            <a:off x="777240" y="1188720"/>
            <a:ext cx="3429000" cy="1051560"/>
          </a:xfrm>
          <a:prstGeom prst="roundRect">
            <a:avLst>
              <a:gd name="adj" fmla="val 10435"/>
            </a:avLst>
          </a:prstGeom>
          <a:solidFill>
            <a:srgbClr val="FFFFFF"/>
          </a:solidFill>
          <a:ln w="12700">
            <a:solidFill>
              <a:srgbClr val="D8E4F7"/>
            </a:solidFill>
            <a:prstDash val="solid"/>
          </a:ln>
        </p:spPr>
      </p:sp>
      <p:sp>
        <p:nvSpPr>
          <p:cNvPr id="6" name="Shape 4"/>
          <p:cNvSpPr/>
          <p:nvPr/>
        </p:nvSpPr>
        <p:spPr>
          <a:xfrm>
            <a:off x="777240" y="1188720"/>
            <a:ext cx="73152" cy="1051560"/>
          </a:xfrm>
          <a:prstGeom prst="rect">
            <a:avLst/>
          </a:prstGeom>
          <a:solidFill>
            <a:srgbClr val="0B4FD8"/>
          </a:solidFill>
          <a:ln w="12700">
            <a:solidFill>
              <a:srgbClr val="0B4FD8">
                <a:alpha val="0"/>
              </a:srgbClr>
            </a:solidFill>
            <a:prstDash val="solid"/>
          </a:ln>
        </p:spPr>
      </p:sp>
      <p:sp>
        <p:nvSpPr>
          <p:cNvPr id="7" name="Text 5"/>
          <p:cNvSpPr/>
          <p:nvPr/>
        </p:nvSpPr>
        <p:spPr>
          <a:xfrm>
            <a:off x="1005840" y="1389888"/>
            <a:ext cx="306324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rPr>
              <a:t>Môi trường</a:t>
            </a:r>
            <a:endParaRPr lang="en-US" sz="1400" dirty="0"/>
          </a:p>
        </p:txBody>
      </p:sp>
      <p:sp>
        <p:nvSpPr>
          <p:cNvPr id="8" name="Text 6"/>
          <p:cNvSpPr/>
          <p:nvPr/>
        </p:nvSpPr>
        <p:spPr>
          <a:xfrm>
            <a:off x="1005840" y="1755648"/>
            <a:ext cx="3081528" cy="338328"/>
          </a:xfrm>
          <a:prstGeom prst="rect">
            <a:avLst/>
          </a:prstGeom>
          <a:noFill/>
          <a:ln/>
        </p:spPr>
        <p:txBody>
          <a:bodyPr wrap="square" lIns="0" tIns="0" rIns="0" bIns="0" rtlCol="0" anchor="ctr">
            <a:normAutofit/>
          </a:bodyPr>
          <a:lstStyle/>
          <a:p>
            <a:pPr indent="0" marL="0">
              <a:buNone/>
            </a:pPr>
            <a:r>
              <a:rPr lang="en-US" sz="1220" dirty="0">
                <a:solidFill>
                  <a:srgbClr val="64748B"/>
                </a:solidFill>
              </a:rPr>
              <a:t>JDK 17+ · Maven · Node.js 18+ nếu chạy frontend-next · H2 in-memory mặc định.</a:t>
            </a:r>
            <a:endParaRPr lang="en-US" sz="1220" dirty="0"/>
          </a:p>
        </p:txBody>
      </p:sp>
      <p:sp>
        <p:nvSpPr>
          <p:cNvPr id="9" name="Shape 7"/>
          <p:cNvSpPr/>
          <p:nvPr/>
        </p:nvSpPr>
        <p:spPr>
          <a:xfrm>
            <a:off x="4434840" y="1188720"/>
            <a:ext cx="3429000" cy="1051560"/>
          </a:xfrm>
          <a:prstGeom prst="roundRect">
            <a:avLst>
              <a:gd name="adj" fmla="val 10435"/>
            </a:avLst>
          </a:prstGeom>
          <a:solidFill>
            <a:srgbClr val="FFFFFF"/>
          </a:solidFill>
          <a:ln w="12700">
            <a:solidFill>
              <a:srgbClr val="D8E4F7"/>
            </a:solidFill>
            <a:prstDash val="solid"/>
          </a:ln>
        </p:spPr>
      </p:sp>
      <p:sp>
        <p:nvSpPr>
          <p:cNvPr id="10" name="Shape 8"/>
          <p:cNvSpPr/>
          <p:nvPr/>
        </p:nvSpPr>
        <p:spPr>
          <a:xfrm>
            <a:off x="4434840" y="1188720"/>
            <a:ext cx="73152" cy="1051560"/>
          </a:xfrm>
          <a:prstGeom prst="rect">
            <a:avLst/>
          </a:prstGeom>
          <a:solidFill>
            <a:srgbClr val="14B8A6"/>
          </a:solidFill>
          <a:ln w="12700">
            <a:solidFill>
              <a:srgbClr val="14B8A6">
                <a:alpha val="0"/>
              </a:srgbClr>
            </a:solidFill>
            <a:prstDash val="solid"/>
          </a:ln>
        </p:spPr>
      </p:sp>
      <p:sp>
        <p:nvSpPr>
          <p:cNvPr id="11" name="Text 9"/>
          <p:cNvSpPr/>
          <p:nvPr/>
        </p:nvSpPr>
        <p:spPr>
          <a:xfrm>
            <a:off x="4663440" y="1389888"/>
            <a:ext cx="306324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rPr>
              <a:t>Chạy backend</a:t>
            </a:r>
            <a:endParaRPr lang="en-US" sz="1400" dirty="0"/>
          </a:p>
        </p:txBody>
      </p:sp>
      <p:sp>
        <p:nvSpPr>
          <p:cNvPr id="12" name="Text 10"/>
          <p:cNvSpPr/>
          <p:nvPr/>
        </p:nvSpPr>
        <p:spPr>
          <a:xfrm>
            <a:off x="4663440" y="1755648"/>
            <a:ext cx="3081528" cy="338328"/>
          </a:xfrm>
          <a:prstGeom prst="rect">
            <a:avLst/>
          </a:prstGeom>
          <a:noFill/>
          <a:ln/>
        </p:spPr>
        <p:txBody>
          <a:bodyPr wrap="square" lIns="0" tIns="0" rIns="0" bIns="0" rtlCol="0" anchor="ctr">
            <a:normAutofit/>
          </a:bodyPr>
          <a:lstStyle/>
          <a:p>
            <a:pPr indent="0" marL="0">
              <a:buNone/>
            </a:pPr>
            <a:r>
              <a:rPr lang="en-US" sz="1220" dirty="0">
                <a:solidFill>
                  <a:srgbClr val="64748B"/>
                </a:solidFill>
              </a:rPr>
              <a:t>cd backend-springboot</a:t>
            </a:r>
            <a:endParaRPr lang="en-US" sz="1220" dirty="0"/>
          </a:p>
          <a:p>
            <a:pPr indent="0" marL="0">
              <a:buNone/>
            </a:pPr>
            <a:r>
              <a:rPr lang="en-US" sz="1220" dirty="0">
                <a:solidFill>
                  <a:srgbClr val="64748B"/>
                </a:solidFill>
              </a:rPr>
              <a:t>mvn spring-boot:run</a:t>
            </a:r>
            <a:endParaRPr lang="en-US" sz="1220" dirty="0"/>
          </a:p>
          <a:p>
            <a:pPr indent="0" marL="0">
              <a:buNone/>
            </a:pPr>
            <a:r>
              <a:rPr lang="en-US" sz="1220" dirty="0">
                <a:solidFill>
                  <a:srgbClr val="64748B"/>
                </a:solidFill>
              </a:rPr>
              <a:t>http://localhost:8080</a:t>
            </a:r>
            <a:endParaRPr lang="en-US" sz="1220" dirty="0"/>
          </a:p>
        </p:txBody>
      </p:sp>
      <p:sp>
        <p:nvSpPr>
          <p:cNvPr id="13" name="Shape 11"/>
          <p:cNvSpPr/>
          <p:nvPr/>
        </p:nvSpPr>
        <p:spPr>
          <a:xfrm>
            <a:off x="8092440" y="1188720"/>
            <a:ext cx="3429000" cy="1051560"/>
          </a:xfrm>
          <a:prstGeom prst="roundRect">
            <a:avLst>
              <a:gd name="adj" fmla="val 10435"/>
            </a:avLst>
          </a:prstGeom>
          <a:solidFill>
            <a:srgbClr val="FFFFFF"/>
          </a:solidFill>
          <a:ln w="12700">
            <a:solidFill>
              <a:srgbClr val="D8E4F7"/>
            </a:solidFill>
            <a:prstDash val="solid"/>
          </a:ln>
        </p:spPr>
      </p:sp>
      <p:sp>
        <p:nvSpPr>
          <p:cNvPr id="14" name="Shape 12"/>
          <p:cNvSpPr/>
          <p:nvPr/>
        </p:nvSpPr>
        <p:spPr>
          <a:xfrm>
            <a:off x="8092440" y="1188720"/>
            <a:ext cx="73152" cy="1051560"/>
          </a:xfrm>
          <a:prstGeom prst="rect">
            <a:avLst/>
          </a:prstGeom>
          <a:solidFill>
            <a:srgbClr val="F97316"/>
          </a:solidFill>
          <a:ln w="12700">
            <a:solidFill>
              <a:srgbClr val="F97316">
                <a:alpha val="0"/>
              </a:srgbClr>
            </a:solidFill>
            <a:prstDash val="solid"/>
          </a:ln>
        </p:spPr>
      </p:sp>
      <p:sp>
        <p:nvSpPr>
          <p:cNvPr id="15" name="Text 13"/>
          <p:cNvSpPr/>
          <p:nvPr/>
        </p:nvSpPr>
        <p:spPr>
          <a:xfrm>
            <a:off x="8321040" y="1389888"/>
            <a:ext cx="306324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rPr>
              <a:t>Tài liệu API</a:t>
            </a:r>
            <a:endParaRPr lang="en-US" sz="1400" dirty="0"/>
          </a:p>
        </p:txBody>
      </p:sp>
      <p:sp>
        <p:nvSpPr>
          <p:cNvPr id="16" name="Text 14"/>
          <p:cNvSpPr/>
          <p:nvPr/>
        </p:nvSpPr>
        <p:spPr>
          <a:xfrm>
            <a:off x="8321040" y="1755648"/>
            <a:ext cx="3081528" cy="338328"/>
          </a:xfrm>
          <a:prstGeom prst="rect">
            <a:avLst/>
          </a:prstGeom>
          <a:noFill/>
          <a:ln/>
        </p:spPr>
        <p:txBody>
          <a:bodyPr wrap="square" lIns="0" tIns="0" rIns="0" bIns="0" rtlCol="0" anchor="ctr">
            <a:normAutofit/>
          </a:bodyPr>
          <a:lstStyle/>
          <a:p>
            <a:pPr indent="0" marL="0">
              <a:buNone/>
            </a:pPr>
            <a:r>
              <a:rPr lang="en-US" sz="1220" dirty="0">
                <a:solidFill>
                  <a:srgbClr val="64748B"/>
                </a:solidFill>
              </a:rPr>
              <a:t>Swagger UI: /swagger-ui.html</a:t>
            </a:r>
            <a:endParaRPr lang="en-US" sz="1220" dirty="0"/>
          </a:p>
          <a:p>
            <a:pPr indent="0" marL="0">
              <a:buNone/>
            </a:pPr>
            <a:r>
              <a:rPr lang="en-US" sz="1220" dirty="0">
                <a:solidFill>
                  <a:srgbClr val="64748B"/>
                </a:solidFill>
              </a:rPr>
              <a:t>H2 Console: /h2-console</a:t>
            </a:r>
            <a:endParaRPr lang="en-US" sz="1220" dirty="0"/>
          </a:p>
        </p:txBody>
      </p:sp>
      <p:sp>
        <p:nvSpPr>
          <p:cNvPr id="17" name="Shape 15"/>
          <p:cNvSpPr/>
          <p:nvPr/>
        </p:nvSpPr>
        <p:spPr>
          <a:xfrm>
            <a:off x="777240" y="2788920"/>
            <a:ext cx="10744200" cy="2331720"/>
          </a:xfrm>
          <a:prstGeom prst="roundRect">
            <a:avLst>
              <a:gd name="adj" fmla="val 7059"/>
            </a:avLst>
          </a:prstGeom>
          <a:solidFill>
            <a:srgbClr val="FFFFFF"/>
          </a:solidFill>
          <a:ln w="12700">
            <a:solidFill>
              <a:srgbClr val="D8E4F7"/>
            </a:solidFill>
            <a:prstDash val="solid"/>
          </a:ln>
        </p:spPr>
      </p:sp>
      <p:sp>
        <p:nvSpPr>
          <p:cNvPr id="18" name="Text 16"/>
          <p:cNvSpPr/>
          <p:nvPr/>
        </p:nvSpPr>
        <p:spPr>
          <a:xfrm>
            <a:off x="1143000" y="3154680"/>
            <a:ext cx="3840480" cy="256032"/>
          </a:xfrm>
          <a:prstGeom prst="rect">
            <a:avLst/>
          </a:prstGeom>
          <a:noFill/>
          <a:ln/>
        </p:spPr>
        <p:txBody>
          <a:bodyPr wrap="square" lIns="0" tIns="0" rIns="0" bIns="0" rtlCol="0" anchor="ctr"/>
          <a:lstStyle/>
          <a:p>
            <a:pPr indent="0" marL="0">
              <a:buNone/>
            </a:pPr>
            <a:r>
              <a:rPr lang="en-US" sz="2000" b="1" dirty="0">
                <a:solidFill>
                  <a:srgbClr val="0F172A"/>
                </a:solidFill>
              </a:rPr>
              <a:t>Kịch bản kiểm thử chức năng</a:t>
            </a:r>
            <a:endParaRPr lang="en-US" sz="2000" dirty="0"/>
          </a:p>
        </p:txBody>
      </p:sp>
      <p:sp>
        <p:nvSpPr>
          <p:cNvPr id="19" name="Shape 17"/>
          <p:cNvSpPr/>
          <p:nvPr/>
        </p:nvSpPr>
        <p:spPr>
          <a:xfrm>
            <a:off x="1097280" y="3840480"/>
            <a:ext cx="960120" cy="502920"/>
          </a:xfrm>
          <a:prstGeom prst="roundRect">
            <a:avLst>
              <a:gd name="adj" fmla="val 16364"/>
            </a:avLst>
          </a:prstGeom>
          <a:solidFill>
            <a:srgbClr val="EAF2FF"/>
          </a:solidFill>
          <a:ln w="12700">
            <a:solidFill>
              <a:srgbClr val="D8E4F7"/>
            </a:solidFill>
            <a:prstDash val="solid"/>
          </a:ln>
        </p:spPr>
      </p:sp>
      <p:sp>
        <p:nvSpPr>
          <p:cNvPr id="20" name="Text 18"/>
          <p:cNvSpPr/>
          <p:nvPr/>
        </p:nvSpPr>
        <p:spPr>
          <a:xfrm>
            <a:off x="115214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Đăng nhập</a:t>
            </a:r>
            <a:endParaRPr lang="en-US" sz="680" dirty="0"/>
          </a:p>
        </p:txBody>
      </p:sp>
      <p:sp>
        <p:nvSpPr>
          <p:cNvPr id="21" name="Shape 19"/>
          <p:cNvSpPr/>
          <p:nvPr/>
        </p:nvSpPr>
        <p:spPr>
          <a:xfrm>
            <a:off x="2084832" y="4096512"/>
            <a:ext cx="173736" cy="0"/>
          </a:xfrm>
          <a:prstGeom prst="line">
            <a:avLst/>
          </a:prstGeom>
          <a:noFill/>
          <a:ln w="27940">
            <a:solidFill>
              <a:srgbClr val="94A3B8"/>
            </a:solidFill>
            <a:prstDash val="solid"/>
            <a:headEnd type="none"/>
            <a:tailEnd type="triangle"/>
          </a:ln>
        </p:spPr>
      </p:sp>
      <p:sp>
        <p:nvSpPr>
          <p:cNvPr id="22" name="Shape 20"/>
          <p:cNvSpPr/>
          <p:nvPr/>
        </p:nvSpPr>
        <p:spPr>
          <a:xfrm>
            <a:off x="2331720" y="3840480"/>
            <a:ext cx="960120" cy="502920"/>
          </a:xfrm>
          <a:prstGeom prst="roundRect">
            <a:avLst>
              <a:gd name="adj" fmla="val 16364"/>
            </a:avLst>
          </a:prstGeom>
          <a:solidFill>
            <a:srgbClr val="DDEBFF"/>
          </a:solidFill>
          <a:ln w="12700">
            <a:solidFill>
              <a:srgbClr val="D8E4F7"/>
            </a:solidFill>
            <a:prstDash val="solid"/>
          </a:ln>
        </p:spPr>
      </p:sp>
      <p:sp>
        <p:nvSpPr>
          <p:cNvPr id="23" name="Text 21"/>
          <p:cNvSpPr/>
          <p:nvPr/>
        </p:nvSpPr>
        <p:spPr>
          <a:xfrm>
            <a:off x="238658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Tạo sự kiện</a:t>
            </a:r>
            <a:endParaRPr lang="en-US" sz="680" dirty="0"/>
          </a:p>
        </p:txBody>
      </p:sp>
      <p:sp>
        <p:nvSpPr>
          <p:cNvPr id="24" name="Shape 22"/>
          <p:cNvSpPr/>
          <p:nvPr/>
        </p:nvSpPr>
        <p:spPr>
          <a:xfrm>
            <a:off x="3319272" y="4096512"/>
            <a:ext cx="173736" cy="0"/>
          </a:xfrm>
          <a:prstGeom prst="line">
            <a:avLst/>
          </a:prstGeom>
          <a:noFill/>
          <a:ln w="27940">
            <a:solidFill>
              <a:srgbClr val="94A3B8"/>
            </a:solidFill>
            <a:prstDash val="solid"/>
            <a:headEnd type="none"/>
            <a:tailEnd type="triangle"/>
          </a:ln>
        </p:spPr>
      </p:sp>
      <p:sp>
        <p:nvSpPr>
          <p:cNvPr id="25" name="Shape 23"/>
          <p:cNvSpPr/>
          <p:nvPr/>
        </p:nvSpPr>
        <p:spPr>
          <a:xfrm>
            <a:off x="3566160" y="3840480"/>
            <a:ext cx="960120" cy="502920"/>
          </a:xfrm>
          <a:prstGeom prst="roundRect">
            <a:avLst>
              <a:gd name="adj" fmla="val 16364"/>
            </a:avLst>
          </a:prstGeom>
          <a:solidFill>
            <a:srgbClr val="EAF2FF"/>
          </a:solidFill>
          <a:ln w="12700">
            <a:solidFill>
              <a:srgbClr val="D8E4F7"/>
            </a:solidFill>
            <a:prstDash val="solid"/>
          </a:ln>
        </p:spPr>
      </p:sp>
      <p:sp>
        <p:nvSpPr>
          <p:cNvPr id="26" name="Text 24"/>
          <p:cNvSpPr/>
          <p:nvPr/>
        </p:nvSpPr>
        <p:spPr>
          <a:xfrm>
            <a:off x="362102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Cấu hình vòng/tiêu chí</a:t>
            </a:r>
            <a:endParaRPr lang="en-US" sz="680" dirty="0"/>
          </a:p>
        </p:txBody>
      </p:sp>
      <p:sp>
        <p:nvSpPr>
          <p:cNvPr id="27" name="Shape 25"/>
          <p:cNvSpPr/>
          <p:nvPr/>
        </p:nvSpPr>
        <p:spPr>
          <a:xfrm>
            <a:off x="4553712" y="4096512"/>
            <a:ext cx="173736" cy="0"/>
          </a:xfrm>
          <a:prstGeom prst="line">
            <a:avLst/>
          </a:prstGeom>
          <a:noFill/>
          <a:ln w="27940">
            <a:solidFill>
              <a:srgbClr val="94A3B8"/>
            </a:solidFill>
            <a:prstDash val="solid"/>
            <a:headEnd type="none"/>
            <a:tailEnd type="triangle"/>
          </a:ln>
        </p:spPr>
      </p:sp>
      <p:sp>
        <p:nvSpPr>
          <p:cNvPr id="28" name="Shape 26"/>
          <p:cNvSpPr/>
          <p:nvPr/>
        </p:nvSpPr>
        <p:spPr>
          <a:xfrm>
            <a:off x="4800600" y="3840480"/>
            <a:ext cx="960120" cy="502920"/>
          </a:xfrm>
          <a:prstGeom prst="roundRect">
            <a:avLst>
              <a:gd name="adj" fmla="val 16364"/>
            </a:avLst>
          </a:prstGeom>
          <a:solidFill>
            <a:srgbClr val="DDEBFF"/>
          </a:solidFill>
          <a:ln w="12700">
            <a:solidFill>
              <a:srgbClr val="D8E4F7"/>
            </a:solidFill>
            <a:prstDash val="solid"/>
          </a:ln>
        </p:spPr>
      </p:sp>
      <p:sp>
        <p:nvSpPr>
          <p:cNvPr id="29" name="Text 27"/>
          <p:cNvSpPr/>
          <p:nvPr/>
        </p:nvSpPr>
        <p:spPr>
          <a:xfrm>
            <a:off x="485546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Duyệt đội</a:t>
            </a:r>
            <a:endParaRPr lang="en-US" sz="680" dirty="0"/>
          </a:p>
        </p:txBody>
      </p:sp>
      <p:sp>
        <p:nvSpPr>
          <p:cNvPr id="30" name="Shape 28"/>
          <p:cNvSpPr/>
          <p:nvPr/>
        </p:nvSpPr>
        <p:spPr>
          <a:xfrm>
            <a:off x="5788152" y="4096512"/>
            <a:ext cx="173736" cy="0"/>
          </a:xfrm>
          <a:prstGeom prst="line">
            <a:avLst/>
          </a:prstGeom>
          <a:noFill/>
          <a:ln w="27940">
            <a:solidFill>
              <a:srgbClr val="94A3B8"/>
            </a:solidFill>
            <a:prstDash val="solid"/>
            <a:headEnd type="none"/>
            <a:tailEnd type="triangle"/>
          </a:ln>
        </p:spPr>
      </p:sp>
      <p:sp>
        <p:nvSpPr>
          <p:cNvPr id="31" name="Shape 29"/>
          <p:cNvSpPr/>
          <p:nvPr/>
        </p:nvSpPr>
        <p:spPr>
          <a:xfrm>
            <a:off x="6035040" y="3840480"/>
            <a:ext cx="960120" cy="502920"/>
          </a:xfrm>
          <a:prstGeom prst="roundRect">
            <a:avLst>
              <a:gd name="adj" fmla="val 16364"/>
            </a:avLst>
          </a:prstGeom>
          <a:solidFill>
            <a:srgbClr val="EAF2FF"/>
          </a:solidFill>
          <a:ln w="12700">
            <a:solidFill>
              <a:srgbClr val="D8E4F7"/>
            </a:solidFill>
            <a:prstDash val="solid"/>
          </a:ln>
        </p:spPr>
      </p:sp>
      <p:sp>
        <p:nvSpPr>
          <p:cNvPr id="32" name="Text 30"/>
          <p:cNvSpPr/>
          <p:nvPr/>
        </p:nvSpPr>
        <p:spPr>
          <a:xfrm>
            <a:off x="608990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Phân công judge</a:t>
            </a:r>
            <a:endParaRPr lang="en-US" sz="680" dirty="0"/>
          </a:p>
        </p:txBody>
      </p:sp>
      <p:sp>
        <p:nvSpPr>
          <p:cNvPr id="33" name="Shape 31"/>
          <p:cNvSpPr/>
          <p:nvPr/>
        </p:nvSpPr>
        <p:spPr>
          <a:xfrm>
            <a:off x="7022592" y="4096512"/>
            <a:ext cx="173736" cy="0"/>
          </a:xfrm>
          <a:prstGeom prst="line">
            <a:avLst/>
          </a:prstGeom>
          <a:noFill/>
          <a:ln w="27940">
            <a:solidFill>
              <a:srgbClr val="94A3B8"/>
            </a:solidFill>
            <a:prstDash val="solid"/>
            <a:headEnd type="none"/>
            <a:tailEnd type="triangle"/>
          </a:ln>
        </p:spPr>
      </p:sp>
      <p:sp>
        <p:nvSpPr>
          <p:cNvPr id="34" name="Shape 32"/>
          <p:cNvSpPr/>
          <p:nvPr/>
        </p:nvSpPr>
        <p:spPr>
          <a:xfrm>
            <a:off x="7269480" y="3840480"/>
            <a:ext cx="960120" cy="502920"/>
          </a:xfrm>
          <a:prstGeom prst="roundRect">
            <a:avLst>
              <a:gd name="adj" fmla="val 16364"/>
            </a:avLst>
          </a:prstGeom>
          <a:solidFill>
            <a:srgbClr val="DDEBFF"/>
          </a:solidFill>
          <a:ln w="12700">
            <a:solidFill>
              <a:srgbClr val="D8E4F7"/>
            </a:solidFill>
            <a:prstDash val="solid"/>
          </a:ln>
        </p:spPr>
      </p:sp>
      <p:sp>
        <p:nvSpPr>
          <p:cNvPr id="35" name="Text 33"/>
          <p:cNvSpPr/>
          <p:nvPr/>
        </p:nvSpPr>
        <p:spPr>
          <a:xfrm>
            <a:off x="732434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Chấm điểm</a:t>
            </a:r>
            <a:endParaRPr lang="en-US" sz="680" dirty="0"/>
          </a:p>
        </p:txBody>
      </p:sp>
      <p:sp>
        <p:nvSpPr>
          <p:cNvPr id="36" name="Shape 34"/>
          <p:cNvSpPr/>
          <p:nvPr/>
        </p:nvSpPr>
        <p:spPr>
          <a:xfrm>
            <a:off x="8257032" y="4096512"/>
            <a:ext cx="173736" cy="0"/>
          </a:xfrm>
          <a:prstGeom prst="line">
            <a:avLst/>
          </a:prstGeom>
          <a:noFill/>
          <a:ln w="27940">
            <a:solidFill>
              <a:srgbClr val="94A3B8"/>
            </a:solidFill>
            <a:prstDash val="solid"/>
            <a:headEnd type="none"/>
            <a:tailEnd type="triangle"/>
          </a:ln>
        </p:spPr>
      </p:sp>
      <p:sp>
        <p:nvSpPr>
          <p:cNvPr id="37" name="Shape 35"/>
          <p:cNvSpPr/>
          <p:nvPr/>
        </p:nvSpPr>
        <p:spPr>
          <a:xfrm>
            <a:off x="8503920" y="3840480"/>
            <a:ext cx="960120" cy="502920"/>
          </a:xfrm>
          <a:prstGeom prst="roundRect">
            <a:avLst>
              <a:gd name="adj" fmla="val 16364"/>
            </a:avLst>
          </a:prstGeom>
          <a:solidFill>
            <a:srgbClr val="EAF2FF"/>
          </a:solidFill>
          <a:ln w="12700">
            <a:solidFill>
              <a:srgbClr val="D8E4F7"/>
            </a:solidFill>
            <a:prstDash val="solid"/>
          </a:ln>
        </p:spPr>
      </p:sp>
      <p:sp>
        <p:nvSpPr>
          <p:cNvPr id="38" name="Text 36"/>
          <p:cNvSpPr/>
          <p:nvPr/>
        </p:nvSpPr>
        <p:spPr>
          <a:xfrm>
            <a:off x="855878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Tính ranking</a:t>
            </a:r>
            <a:endParaRPr lang="en-US" sz="680" dirty="0"/>
          </a:p>
        </p:txBody>
      </p:sp>
      <p:sp>
        <p:nvSpPr>
          <p:cNvPr id="39" name="Shape 37"/>
          <p:cNvSpPr/>
          <p:nvPr/>
        </p:nvSpPr>
        <p:spPr>
          <a:xfrm>
            <a:off x="9491472" y="4096512"/>
            <a:ext cx="173736" cy="0"/>
          </a:xfrm>
          <a:prstGeom prst="line">
            <a:avLst/>
          </a:prstGeom>
          <a:noFill/>
          <a:ln w="27940">
            <a:solidFill>
              <a:srgbClr val="94A3B8"/>
            </a:solidFill>
            <a:prstDash val="solid"/>
            <a:headEnd type="none"/>
            <a:tailEnd type="triangle"/>
          </a:ln>
        </p:spPr>
      </p:sp>
      <p:sp>
        <p:nvSpPr>
          <p:cNvPr id="40" name="Shape 38"/>
          <p:cNvSpPr/>
          <p:nvPr/>
        </p:nvSpPr>
        <p:spPr>
          <a:xfrm>
            <a:off x="9738360" y="3840480"/>
            <a:ext cx="960120" cy="502920"/>
          </a:xfrm>
          <a:prstGeom prst="roundRect">
            <a:avLst>
              <a:gd name="adj" fmla="val 16364"/>
            </a:avLst>
          </a:prstGeom>
          <a:solidFill>
            <a:srgbClr val="DDEBFF"/>
          </a:solidFill>
          <a:ln w="12700">
            <a:solidFill>
              <a:srgbClr val="D8E4F7"/>
            </a:solidFill>
            <a:prstDash val="solid"/>
          </a:ln>
        </p:spPr>
      </p:sp>
      <p:sp>
        <p:nvSpPr>
          <p:cNvPr id="41" name="Text 39"/>
          <p:cNvSpPr/>
          <p:nvPr/>
        </p:nvSpPr>
        <p:spPr>
          <a:xfrm>
            <a:off x="9793224" y="4014216"/>
            <a:ext cx="850392" cy="91440"/>
          </a:xfrm>
          <a:prstGeom prst="rect">
            <a:avLst/>
          </a:prstGeom>
          <a:noFill/>
          <a:ln/>
        </p:spPr>
        <p:txBody>
          <a:bodyPr wrap="square" lIns="0" tIns="0" rIns="0" bIns="0" rtlCol="0" anchor="ctr">
            <a:normAutofit/>
          </a:bodyPr>
          <a:lstStyle/>
          <a:p>
            <a:pPr algn="ctr" indent="0" marL="0">
              <a:buNone/>
            </a:pPr>
            <a:r>
              <a:rPr lang="en-US" sz="680" b="1" dirty="0">
                <a:solidFill>
                  <a:srgbClr val="0F172A"/>
                </a:solidFill>
              </a:rPr>
              <a:t>Xem RBL</a:t>
            </a:r>
            <a:endParaRPr lang="en-US" sz="680" dirty="0"/>
          </a:p>
        </p:txBody>
      </p:sp>
      <p:sp>
        <p:nvSpPr>
          <p:cNvPr id="42" name="Text 40"/>
          <p:cNvSpPr/>
          <p:nvPr/>
        </p:nvSpPr>
        <p:spPr>
          <a:xfrm>
            <a:off x="1143000" y="4663440"/>
            <a:ext cx="9875520" cy="201168"/>
          </a:xfrm>
          <a:prstGeom prst="rect">
            <a:avLst/>
          </a:prstGeom>
          <a:noFill/>
          <a:ln/>
        </p:spPr>
        <p:txBody>
          <a:bodyPr wrap="square" lIns="0" tIns="0" rIns="0" bIns="0" rtlCol="0" anchor="ctr"/>
          <a:lstStyle/>
          <a:p>
            <a:pPr algn="ctr" indent="0" marL="0">
              <a:buNone/>
            </a:pPr>
            <a:r>
              <a:rPr lang="en-US" sz="1250" dirty="0">
                <a:solidFill>
                  <a:srgbClr val="64748B"/>
                </a:solidFill>
              </a:rPr>
              <a:t>Bộ Postman collection và hướng dẫn bảo vệ nằm trong thư mục Docs; giao diện tĩnh giúp demo nhanh mà không bắt buộc chạy frontend riêng.</a:t>
            </a:r>
            <a:endParaRPr lang="en-US" sz="1250" dirty="0"/>
          </a:p>
        </p:txBody>
      </p:sp>
      <p:sp>
        <p:nvSpPr>
          <p:cNvPr id="43" name="Shape 41"/>
          <p:cNvSpPr/>
          <p:nvPr/>
        </p:nvSpPr>
        <p:spPr>
          <a:xfrm>
            <a:off x="594360" y="6473952"/>
            <a:ext cx="11018520" cy="0"/>
          </a:xfrm>
          <a:prstGeom prst="line">
            <a:avLst/>
          </a:prstGeom>
          <a:noFill/>
          <a:ln w="10160">
            <a:solidFill>
              <a:srgbClr val="D8E4F7"/>
            </a:solidFill>
            <a:prstDash val="solid"/>
          </a:ln>
        </p:spPr>
      </p:sp>
      <p:sp>
        <p:nvSpPr>
          <p:cNvPr id="44" name="Text 42"/>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45" name="Text 43"/>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05 · KẾT LUẬN</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Hạn chế &amp; hướng phát triển</a:t>
            </a:r>
            <a:endParaRPr lang="en-US" sz="2700" dirty="0"/>
          </a:p>
        </p:txBody>
      </p:sp>
      <p:sp>
        <p:nvSpPr>
          <p:cNvPr id="5" name="Shape 3"/>
          <p:cNvSpPr/>
          <p:nvPr/>
        </p:nvSpPr>
        <p:spPr>
          <a:xfrm>
            <a:off x="822960" y="1234440"/>
            <a:ext cx="4983480" cy="804672"/>
          </a:xfrm>
          <a:prstGeom prst="roundRect">
            <a:avLst>
              <a:gd name="adj" fmla="val 13636"/>
            </a:avLst>
          </a:prstGeom>
          <a:solidFill>
            <a:srgbClr val="FFFFFF"/>
          </a:solidFill>
          <a:ln w="12700">
            <a:solidFill>
              <a:srgbClr val="D8E4F7"/>
            </a:solidFill>
            <a:prstDash val="solid"/>
          </a:ln>
        </p:spPr>
      </p:sp>
      <p:sp>
        <p:nvSpPr>
          <p:cNvPr id="6" name="Shape 4"/>
          <p:cNvSpPr/>
          <p:nvPr/>
        </p:nvSpPr>
        <p:spPr>
          <a:xfrm>
            <a:off x="822960" y="1234440"/>
            <a:ext cx="73152" cy="804672"/>
          </a:xfrm>
          <a:prstGeom prst="rect">
            <a:avLst/>
          </a:prstGeom>
          <a:solidFill>
            <a:srgbClr val="0B4FD8"/>
          </a:solidFill>
          <a:ln w="12700">
            <a:solidFill>
              <a:srgbClr val="0B4FD8">
                <a:alpha val="0"/>
              </a:srgbClr>
            </a:solidFill>
            <a:prstDash val="solid"/>
          </a:ln>
        </p:spPr>
      </p:sp>
      <p:sp>
        <p:nvSpPr>
          <p:cNvPr id="7" name="Text 5"/>
          <p:cNvSpPr/>
          <p:nvPr/>
        </p:nvSpPr>
        <p:spPr>
          <a:xfrm>
            <a:off x="1051560" y="1435608"/>
            <a:ext cx="46177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GitHub/GitLab API</a:t>
            </a:r>
            <a:endParaRPr lang="en-US" sz="1200" dirty="0"/>
          </a:p>
        </p:txBody>
      </p:sp>
      <p:sp>
        <p:nvSpPr>
          <p:cNvPr id="8" name="Text 6"/>
          <p:cNvSpPr/>
          <p:nvPr/>
        </p:nvSpPr>
        <p:spPr>
          <a:xfrm>
            <a:off x="1051560" y="1801368"/>
            <a:ext cx="463600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Tự động lấy commit, contributor, ngôn ngữ, thời gian cập nhật repository.</a:t>
            </a:r>
            <a:endParaRPr lang="en-US" sz="1050" dirty="0"/>
          </a:p>
        </p:txBody>
      </p:sp>
      <p:sp>
        <p:nvSpPr>
          <p:cNvPr id="9" name="Shape 7"/>
          <p:cNvSpPr/>
          <p:nvPr/>
        </p:nvSpPr>
        <p:spPr>
          <a:xfrm>
            <a:off x="6355080" y="1234440"/>
            <a:ext cx="4983480" cy="804672"/>
          </a:xfrm>
          <a:prstGeom prst="roundRect">
            <a:avLst>
              <a:gd name="adj" fmla="val 13636"/>
            </a:avLst>
          </a:prstGeom>
          <a:solidFill>
            <a:srgbClr val="FFFFFF"/>
          </a:solidFill>
          <a:ln w="12700">
            <a:solidFill>
              <a:srgbClr val="D8E4F7"/>
            </a:solidFill>
            <a:prstDash val="solid"/>
          </a:ln>
        </p:spPr>
      </p:sp>
      <p:sp>
        <p:nvSpPr>
          <p:cNvPr id="10" name="Shape 8"/>
          <p:cNvSpPr/>
          <p:nvPr/>
        </p:nvSpPr>
        <p:spPr>
          <a:xfrm>
            <a:off x="6355080" y="1234440"/>
            <a:ext cx="73152" cy="804672"/>
          </a:xfrm>
          <a:prstGeom prst="rect">
            <a:avLst/>
          </a:prstGeom>
          <a:solidFill>
            <a:srgbClr val="14B8A6"/>
          </a:solidFill>
          <a:ln w="12700">
            <a:solidFill>
              <a:srgbClr val="14B8A6">
                <a:alpha val="0"/>
              </a:srgbClr>
            </a:solidFill>
            <a:prstDash val="solid"/>
          </a:ln>
        </p:spPr>
      </p:sp>
      <p:sp>
        <p:nvSpPr>
          <p:cNvPr id="11" name="Text 9"/>
          <p:cNvSpPr/>
          <p:nvPr/>
        </p:nvSpPr>
        <p:spPr>
          <a:xfrm>
            <a:off x="6583680" y="1435608"/>
            <a:ext cx="46177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Email thật</a:t>
            </a:r>
            <a:endParaRPr lang="en-US" sz="1200" dirty="0"/>
          </a:p>
        </p:txBody>
      </p:sp>
      <p:sp>
        <p:nvSpPr>
          <p:cNvPr id="12" name="Text 10"/>
          <p:cNvSpPr/>
          <p:nvPr/>
        </p:nvSpPr>
        <p:spPr>
          <a:xfrm>
            <a:off x="6583680" y="1801368"/>
            <a:ext cx="463600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Gửi mã quên mật khẩu và thông báo thay vì hiển thị mã demo.</a:t>
            </a:r>
            <a:endParaRPr lang="en-US" sz="1050" dirty="0"/>
          </a:p>
        </p:txBody>
      </p:sp>
      <p:sp>
        <p:nvSpPr>
          <p:cNvPr id="13" name="Shape 11"/>
          <p:cNvSpPr/>
          <p:nvPr/>
        </p:nvSpPr>
        <p:spPr>
          <a:xfrm>
            <a:off x="822960" y="2359152"/>
            <a:ext cx="4983480" cy="804672"/>
          </a:xfrm>
          <a:prstGeom prst="roundRect">
            <a:avLst>
              <a:gd name="adj" fmla="val 13636"/>
            </a:avLst>
          </a:prstGeom>
          <a:solidFill>
            <a:srgbClr val="FFFFFF"/>
          </a:solidFill>
          <a:ln w="12700">
            <a:solidFill>
              <a:srgbClr val="D8E4F7"/>
            </a:solidFill>
            <a:prstDash val="solid"/>
          </a:ln>
        </p:spPr>
      </p:sp>
      <p:sp>
        <p:nvSpPr>
          <p:cNvPr id="14" name="Shape 12"/>
          <p:cNvSpPr/>
          <p:nvPr/>
        </p:nvSpPr>
        <p:spPr>
          <a:xfrm>
            <a:off x="822960" y="2359152"/>
            <a:ext cx="73152" cy="804672"/>
          </a:xfrm>
          <a:prstGeom prst="rect">
            <a:avLst/>
          </a:prstGeom>
          <a:solidFill>
            <a:srgbClr val="F97316"/>
          </a:solidFill>
          <a:ln w="12700">
            <a:solidFill>
              <a:srgbClr val="F97316">
                <a:alpha val="0"/>
              </a:srgbClr>
            </a:solidFill>
            <a:prstDash val="solid"/>
          </a:ln>
        </p:spPr>
      </p:sp>
      <p:sp>
        <p:nvSpPr>
          <p:cNvPr id="15" name="Text 13"/>
          <p:cNvSpPr/>
          <p:nvPr/>
        </p:nvSpPr>
        <p:spPr>
          <a:xfrm>
            <a:off x="1051560" y="2560320"/>
            <a:ext cx="46177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Phân quyền UI chi tiết</a:t>
            </a:r>
            <a:endParaRPr lang="en-US" sz="1200" dirty="0"/>
          </a:p>
        </p:txBody>
      </p:sp>
      <p:sp>
        <p:nvSpPr>
          <p:cNvPr id="16" name="Text 14"/>
          <p:cNvSpPr/>
          <p:nvPr/>
        </p:nvSpPr>
        <p:spPr>
          <a:xfrm>
            <a:off x="1051560" y="2926080"/>
            <a:ext cx="463600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Trang riêng cho judge, team leader, mentor theo đúng dữ liệu được phân công.</a:t>
            </a:r>
            <a:endParaRPr lang="en-US" sz="1050" dirty="0"/>
          </a:p>
        </p:txBody>
      </p:sp>
      <p:sp>
        <p:nvSpPr>
          <p:cNvPr id="17" name="Shape 15"/>
          <p:cNvSpPr/>
          <p:nvPr/>
        </p:nvSpPr>
        <p:spPr>
          <a:xfrm>
            <a:off x="6355080" y="2359152"/>
            <a:ext cx="4983480" cy="804672"/>
          </a:xfrm>
          <a:prstGeom prst="roundRect">
            <a:avLst>
              <a:gd name="adj" fmla="val 13636"/>
            </a:avLst>
          </a:prstGeom>
          <a:solidFill>
            <a:srgbClr val="FFFFFF"/>
          </a:solidFill>
          <a:ln w="12700">
            <a:solidFill>
              <a:srgbClr val="D8E4F7"/>
            </a:solidFill>
            <a:prstDash val="solid"/>
          </a:ln>
        </p:spPr>
      </p:sp>
      <p:sp>
        <p:nvSpPr>
          <p:cNvPr id="18" name="Shape 16"/>
          <p:cNvSpPr/>
          <p:nvPr/>
        </p:nvSpPr>
        <p:spPr>
          <a:xfrm>
            <a:off x="6355080" y="2359152"/>
            <a:ext cx="73152" cy="804672"/>
          </a:xfrm>
          <a:prstGeom prst="rect">
            <a:avLst/>
          </a:prstGeom>
          <a:solidFill>
            <a:srgbClr val="10B981"/>
          </a:solidFill>
          <a:ln w="12700">
            <a:solidFill>
              <a:srgbClr val="10B981">
                <a:alpha val="0"/>
              </a:srgbClr>
            </a:solidFill>
            <a:prstDash val="solid"/>
          </a:ln>
        </p:spPr>
      </p:sp>
      <p:sp>
        <p:nvSpPr>
          <p:cNvPr id="19" name="Text 17"/>
          <p:cNvSpPr/>
          <p:nvPr/>
        </p:nvSpPr>
        <p:spPr>
          <a:xfrm>
            <a:off x="6583680" y="2560320"/>
            <a:ext cx="46177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Trực quan hóa RBL</a:t>
            </a:r>
            <a:endParaRPr lang="en-US" sz="1200" dirty="0"/>
          </a:p>
        </p:txBody>
      </p:sp>
      <p:sp>
        <p:nvSpPr>
          <p:cNvPr id="20" name="Text 18"/>
          <p:cNvSpPr/>
          <p:nvPr/>
        </p:nvSpPr>
        <p:spPr>
          <a:xfrm>
            <a:off x="6583680" y="2926080"/>
            <a:ext cx="463600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Biểu đồ phân bố điểm, heatmap độ lệch giám khảo, tiêu chí bất đồng cao.</a:t>
            </a:r>
            <a:endParaRPr lang="en-US" sz="1050" dirty="0"/>
          </a:p>
        </p:txBody>
      </p:sp>
      <p:sp>
        <p:nvSpPr>
          <p:cNvPr id="21" name="Shape 19"/>
          <p:cNvSpPr/>
          <p:nvPr/>
        </p:nvSpPr>
        <p:spPr>
          <a:xfrm>
            <a:off x="822960" y="3483864"/>
            <a:ext cx="4983480" cy="804672"/>
          </a:xfrm>
          <a:prstGeom prst="roundRect">
            <a:avLst>
              <a:gd name="adj" fmla="val 13636"/>
            </a:avLst>
          </a:prstGeom>
          <a:solidFill>
            <a:srgbClr val="FFFFFF"/>
          </a:solidFill>
          <a:ln w="12700">
            <a:solidFill>
              <a:srgbClr val="D8E4F7"/>
            </a:solidFill>
            <a:prstDash val="solid"/>
          </a:ln>
        </p:spPr>
      </p:sp>
      <p:sp>
        <p:nvSpPr>
          <p:cNvPr id="22" name="Shape 20"/>
          <p:cNvSpPr/>
          <p:nvPr/>
        </p:nvSpPr>
        <p:spPr>
          <a:xfrm>
            <a:off x="822960" y="3483864"/>
            <a:ext cx="73152" cy="804672"/>
          </a:xfrm>
          <a:prstGeom prst="rect">
            <a:avLst/>
          </a:prstGeom>
          <a:solidFill>
            <a:srgbClr val="EF4444"/>
          </a:solidFill>
          <a:ln w="12700">
            <a:solidFill>
              <a:srgbClr val="EF4444">
                <a:alpha val="0"/>
              </a:srgbClr>
            </a:solidFill>
            <a:prstDash val="solid"/>
          </a:ln>
        </p:spPr>
      </p:sp>
      <p:sp>
        <p:nvSpPr>
          <p:cNvPr id="23" name="Text 21"/>
          <p:cNvSpPr/>
          <p:nvPr/>
        </p:nvSpPr>
        <p:spPr>
          <a:xfrm>
            <a:off x="1051560" y="3685032"/>
            <a:ext cx="46177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Import/Export Excel</a:t>
            </a:r>
            <a:endParaRPr lang="en-US" sz="1200" dirty="0"/>
          </a:p>
        </p:txBody>
      </p:sp>
      <p:sp>
        <p:nvSpPr>
          <p:cNvPr id="24" name="Text 22"/>
          <p:cNvSpPr/>
          <p:nvPr/>
        </p:nvSpPr>
        <p:spPr>
          <a:xfrm>
            <a:off x="1051560" y="4050792"/>
            <a:ext cx="463600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Phù hợp thói quen của BTC, dễ chuyển đổi dữ liệu từ quy trình cũ.</a:t>
            </a:r>
            <a:endParaRPr lang="en-US" sz="1050" dirty="0"/>
          </a:p>
        </p:txBody>
      </p:sp>
      <p:sp>
        <p:nvSpPr>
          <p:cNvPr id="25" name="Shape 23"/>
          <p:cNvSpPr/>
          <p:nvPr/>
        </p:nvSpPr>
        <p:spPr>
          <a:xfrm>
            <a:off x="6355080" y="3483864"/>
            <a:ext cx="4983480" cy="804672"/>
          </a:xfrm>
          <a:prstGeom prst="roundRect">
            <a:avLst>
              <a:gd name="adj" fmla="val 13636"/>
            </a:avLst>
          </a:prstGeom>
          <a:solidFill>
            <a:srgbClr val="FFFFFF"/>
          </a:solidFill>
          <a:ln w="12700">
            <a:solidFill>
              <a:srgbClr val="D8E4F7"/>
            </a:solidFill>
            <a:prstDash val="solid"/>
          </a:ln>
        </p:spPr>
      </p:sp>
      <p:sp>
        <p:nvSpPr>
          <p:cNvPr id="26" name="Shape 24"/>
          <p:cNvSpPr/>
          <p:nvPr/>
        </p:nvSpPr>
        <p:spPr>
          <a:xfrm>
            <a:off x="6355080" y="3483864"/>
            <a:ext cx="73152" cy="804672"/>
          </a:xfrm>
          <a:prstGeom prst="rect">
            <a:avLst/>
          </a:prstGeom>
          <a:solidFill>
            <a:srgbClr val="2563EB"/>
          </a:solidFill>
          <a:ln w="12700">
            <a:solidFill>
              <a:srgbClr val="2563EB">
                <a:alpha val="0"/>
              </a:srgbClr>
            </a:solidFill>
            <a:prstDash val="solid"/>
          </a:ln>
        </p:spPr>
      </p:sp>
      <p:sp>
        <p:nvSpPr>
          <p:cNvPr id="27" name="Text 25"/>
          <p:cNvSpPr/>
          <p:nvPr/>
        </p:nvSpPr>
        <p:spPr>
          <a:xfrm>
            <a:off x="6583680" y="3685032"/>
            <a:ext cx="4617720" cy="237744"/>
          </a:xfrm>
          <a:prstGeom prst="rect">
            <a:avLst/>
          </a:prstGeom>
          <a:noFill/>
          <a:ln/>
        </p:spPr>
        <p:txBody>
          <a:bodyPr wrap="square" lIns="0" tIns="0" rIns="0" bIns="0" rtlCol="0" anchor="ctr">
            <a:normAutofit/>
          </a:bodyPr>
          <a:lstStyle/>
          <a:p>
            <a:pPr indent="0" marL="0">
              <a:buNone/>
            </a:pPr>
            <a:r>
              <a:rPr lang="en-US" sz="1200" b="1" dirty="0">
                <a:solidFill>
                  <a:srgbClr val="0F172A"/>
                </a:solidFill>
              </a:rPr>
              <a:t>Realtime notification</a:t>
            </a:r>
            <a:endParaRPr lang="en-US" sz="1200" dirty="0"/>
          </a:p>
        </p:txBody>
      </p:sp>
      <p:sp>
        <p:nvSpPr>
          <p:cNvPr id="28" name="Text 26"/>
          <p:cNvSpPr/>
          <p:nvPr/>
        </p:nvSpPr>
        <p:spPr>
          <a:xfrm>
            <a:off x="6583680" y="4050792"/>
            <a:ext cx="4636008" cy="91440"/>
          </a:xfrm>
          <a:prstGeom prst="rect">
            <a:avLst/>
          </a:prstGeom>
          <a:noFill/>
          <a:ln/>
        </p:spPr>
        <p:txBody>
          <a:bodyPr wrap="square" lIns="0" tIns="0" rIns="0" bIns="0" rtlCol="0" anchor="ctr">
            <a:normAutofit/>
          </a:bodyPr>
          <a:lstStyle/>
          <a:p>
            <a:pPr indent="0" marL="0">
              <a:buNone/>
            </a:pPr>
            <a:r>
              <a:rPr lang="en-US" sz="1050" dirty="0">
                <a:solidFill>
                  <a:srgbClr val="64748B"/>
                </a:solidFill>
              </a:rPr>
              <a:t>WebSocket hoặc email để thông báo deadline, kết quả, bài bị loại.</a:t>
            </a:r>
            <a:endParaRPr lang="en-US" sz="1050" dirty="0"/>
          </a:p>
        </p:txBody>
      </p:sp>
      <p:sp>
        <p:nvSpPr>
          <p:cNvPr id="29" name="Shape 27"/>
          <p:cNvSpPr/>
          <p:nvPr/>
        </p:nvSpPr>
        <p:spPr>
          <a:xfrm>
            <a:off x="2331720" y="5074920"/>
            <a:ext cx="7498080" cy="530352"/>
          </a:xfrm>
          <a:prstGeom prst="roundRect">
            <a:avLst>
              <a:gd name="adj" fmla="val 20690"/>
            </a:avLst>
          </a:prstGeom>
          <a:solidFill>
            <a:srgbClr val="EAF2FF"/>
          </a:solidFill>
          <a:ln w="12700">
            <a:solidFill>
              <a:srgbClr val="EAF2FF"/>
            </a:solidFill>
            <a:prstDash val="solid"/>
          </a:ln>
        </p:spPr>
      </p:sp>
      <p:sp>
        <p:nvSpPr>
          <p:cNvPr id="30" name="Text 28"/>
          <p:cNvSpPr/>
          <p:nvPr/>
        </p:nvSpPr>
        <p:spPr>
          <a:xfrm>
            <a:off x="2606040" y="5248656"/>
            <a:ext cx="6949440" cy="128016"/>
          </a:xfrm>
          <a:prstGeom prst="rect">
            <a:avLst/>
          </a:prstGeom>
          <a:noFill/>
          <a:ln/>
        </p:spPr>
        <p:txBody>
          <a:bodyPr wrap="square" lIns="0" tIns="0" rIns="0" bIns="0" rtlCol="0" anchor="ctr">
            <a:normAutofit/>
          </a:bodyPr>
          <a:lstStyle/>
          <a:p>
            <a:pPr algn="ctr" indent="0" marL="0">
              <a:buNone/>
            </a:pPr>
            <a:r>
              <a:rPr lang="en-US" sz="1080" b="1" dirty="0">
                <a:solidFill>
                  <a:srgbClr val="0B4FD8"/>
                </a:solidFill>
              </a:rPr>
              <a:t>Các hạn chế này không làm thay đổi mục tiêu chính của phiên bản hiện tại: hoàn thành web app quản lý nghiệp vụ SEAL và hỗ trợ RBL.</a:t>
            </a:r>
            <a:endParaRPr lang="en-US" sz="1080" dirty="0"/>
          </a:p>
        </p:txBody>
      </p:sp>
      <p:sp>
        <p:nvSpPr>
          <p:cNvPr id="31" name="Shape 29"/>
          <p:cNvSpPr/>
          <p:nvPr/>
        </p:nvSpPr>
        <p:spPr>
          <a:xfrm>
            <a:off x="594360" y="6473952"/>
            <a:ext cx="11018520" cy="0"/>
          </a:xfrm>
          <a:prstGeom prst="line">
            <a:avLst/>
          </a:prstGeom>
          <a:noFill/>
          <a:ln w="10160">
            <a:solidFill>
              <a:srgbClr val="D8E4F7"/>
            </a:solidFill>
            <a:prstDash val="solid"/>
          </a:ln>
        </p:spPr>
      </p:sp>
      <p:sp>
        <p:nvSpPr>
          <p:cNvPr id="32" name="Text 30"/>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33" name="Text 31"/>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9FF"/>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B4FD8"/>
          </a:solidFill>
          <a:ln w="12700">
            <a:solidFill>
              <a:srgbClr val="0B4FD8">
                <a:alpha val="0"/>
              </a:srgbClr>
            </a:solidFill>
            <a:prstDash val="solid"/>
          </a:ln>
        </p:spPr>
      </p:sp>
      <p:sp>
        <p:nvSpPr>
          <p:cNvPr id="3" name="Text 1"/>
          <p:cNvSpPr/>
          <p:nvPr/>
        </p:nvSpPr>
        <p:spPr>
          <a:xfrm>
            <a:off x="594360" y="256032"/>
            <a:ext cx="3749040" cy="237744"/>
          </a:xfrm>
          <a:prstGeom prst="rect">
            <a:avLst/>
          </a:prstGeom>
          <a:noFill/>
          <a:ln/>
        </p:spPr>
        <p:txBody>
          <a:bodyPr wrap="square" rtlCol="0" anchor="ctr"/>
          <a:lstStyle/>
          <a:p>
            <a:pPr indent="0" marL="0">
              <a:buNone/>
            </a:pPr>
            <a:r>
              <a:rPr lang="en-US" sz="850" b="1" dirty="0">
                <a:solidFill>
                  <a:srgbClr val="0B4FD8"/>
                </a:solidFill>
                <a:latin typeface="Aptos" pitchFamily="34" charset="0"/>
                <a:ea typeface="Aptos" pitchFamily="34" charset="-122"/>
                <a:cs typeface="Aptos" pitchFamily="34" charset="-120"/>
              </a:rPr>
              <a:t>05 · KẾT LUẬN</a:t>
            </a:r>
            <a:endParaRPr lang="en-US" sz="850" dirty="0"/>
          </a:p>
        </p:txBody>
      </p:sp>
      <p:sp>
        <p:nvSpPr>
          <p:cNvPr id="4" name="Text 2"/>
          <p:cNvSpPr/>
          <p:nvPr/>
        </p:nvSpPr>
        <p:spPr>
          <a:xfrm>
            <a:off x="594360" y="530352"/>
            <a:ext cx="8046720" cy="502920"/>
          </a:xfrm>
          <a:prstGeom prst="rect">
            <a:avLst/>
          </a:prstGeom>
          <a:noFill/>
          <a:ln/>
        </p:spPr>
        <p:txBody>
          <a:bodyPr wrap="square" lIns="254" tIns="254" rIns="254" bIns="254" rtlCol="0" anchor="ctr">
            <a:normAutofit/>
          </a:bodyPr>
          <a:lstStyle/>
          <a:p>
            <a:pPr indent="0" marL="0">
              <a:buNone/>
            </a:pPr>
            <a:r>
              <a:rPr lang="en-US" sz="2700" b="1" dirty="0">
                <a:solidFill>
                  <a:srgbClr val="0F172A"/>
                </a:solidFill>
                <a:latin typeface="Aptos Display" pitchFamily="34" charset="0"/>
                <a:ea typeface="Aptos Display" pitchFamily="34" charset="-122"/>
                <a:cs typeface="Aptos Display" pitchFamily="34" charset="-120"/>
              </a:rPr>
              <a:t>Kết luận</a:t>
            </a:r>
            <a:endParaRPr lang="en-US" sz="2700" dirty="0"/>
          </a:p>
        </p:txBody>
      </p:sp>
      <p:sp>
        <p:nvSpPr>
          <p:cNvPr id="5" name="Shape 3"/>
          <p:cNvSpPr/>
          <p:nvPr/>
        </p:nvSpPr>
        <p:spPr>
          <a:xfrm>
            <a:off x="868680" y="1143000"/>
            <a:ext cx="4937760" cy="4251960"/>
          </a:xfrm>
          <a:prstGeom prst="roundRect">
            <a:avLst>
              <a:gd name="adj" fmla="val 3871"/>
            </a:avLst>
          </a:prstGeom>
          <a:solidFill>
            <a:srgbClr val="FFFFFF"/>
          </a:solidFill>
          <a:ln w="12700">
            <a:solidFill>
              <a:srgbClr val="D8E4F7"/>
            </a:solidFill>
            <a:prstDash val="solid"/>
          </a:ln>
        </p:spPr>
      </p:sp>
      <p:sp>
        <p:nvSpPr>
          <p:cNvPr id="6" name="Text 4"/>
          <p:cNvSpPr/>
          <p:nvPr/>
        </p:nvSpPr>
        <p:spPr>
          <a:xfrm>
            <a:off x="1207008" y="1536192"/>
            <a:ext cx="3383280" cy="256032"/>
          </a:xfrm>
          <a:prstGeom prst="rect">
            <a:avLst/>
          </a:prstGeom>
          <a:noFill/>
          <a:ln/>
        </p:spPr>
        <p:txBody>
          <a:bodyPr wrap="square" lIns="0" tIns="0" rIns="0" bIns="0" rtlCol="0" anchor="ctr"/>
          <a:lstStyle/>
          <a:p>
            <a:pPr indent="0" marL="0">
              <a:buNone/>
            </a:pPr>
            <a:r>
              <a:rPr lang="en-US" sz="2100" b="1" dirty="0">
                <a:solidFill>
                  <a:srgbClr val="0F172A"/>
                </a:solidFill>
              </a:rPr>
              <a:t>Những gì đã đạt được</a:t>
            </a:r>
            <a:endParaRPr lang="en-US" sz="2100" dirty="0"/>
          </a:p>
        </p:txBody>
      </p:sp>
      <p:sp>
        <p:nvSpPr>
          <p:cNvPr id="7" name="Text 5"/>
          <p:cNvSpPr/>
          <p:nvPr/>
        </p:nvSpPr>
        <p:spPr>
          <a:xfrm>
            <a:off x="1234440" y="2011680"/>
            <a:ext cx="4160520" cy="2331720"/>
          </a:xfrm>
          <a:prstGeom prst="rect">
            <a:avLst/>
          </a:prstGeom>
          <a:noFill/>
          <a:ln/>
        </p:spPr>
        <p:txBody>
          <a:bodyPr wrap="square" lIns="381" tIns="381" rIns="381" bIns="381" rtlCol="0" anchor="t">
            <a:normAutofit/>
          </a:bodyPr>
          <a:lstStyle/>
          <a:p>
            <a:r>
              <a:rPr lang="en-US" sz="1320" dirty="0">
                <a:solidFill>
                  <a:srgbClr val="0F172A"/>
                </a:solidFill>
              </a:rPr>
              <a:t>Xây dựng hệ thống web quản lý vòng đời cuộc thi SEAL Hackathon.
</a:t>
            </a:r>
            <a:endParaRPr lang="en-US" sz="1320" dirty="0"/>
          </a:p>
          <a:p>
            <a:r>
              <a:rPr lang="en-US" sz="1320" dirty="0">
                <a:solidFill>
                  <a:srgbClr val="0F172A"/>
                </a:solidFill>
              </a:rPr>
              <a:t>Có dashboard thao tác trực tiếp, tài khoản demo và dữ liệu khởi tạo sẵn.
</a:t>
            </a:r>
            <a:endParaRPr lang="en-US" sz="1320" dirty="0"/>
          </a:p>
          <a:p>
            <a:r>
              <a:rPr lang="en-US" sz="1320" dirty="0">
                <a:solidFill>
                  <a:srgbClr val="0F172A"/>
                </a:solidFill>
              </a:rPr>
              <a:t>Thiết kế backend theo Spring Boot, RESTful API, JWT, JPA/Hibernate.
</a:t>
            </a:r>
            <a:endParaRPr lang="en-US" sz="1320" dirty="0"/>
          </a:p>
          <a:p>
            <a:r>
              <a:rPr lang="en-US" sz="1320" dirty="0">
                <a:solidFill>
                  <a:srgbClr val="0F172A"/>
                </a:solidFill>
              </a:rPr>
              <a:t>Tự động hóa chấm điểm, ranking và Top N thăng vòng.
</a:t>
            </a:r>
            <a:endParaRPr lang="en-US" sz="1320" dirty="0"/>
          </a:p>
          <a:p>
            <a:r>
              <a:rPr lang="en-US" sz="1320" dirty="0">
                <a:solidFill>
                  <a:srgbClr val="0F172A"/>
                </a:solidFill>
              </a:rPr>
              <a:t>Bổ sung RBL để phân tích độ tin cậy liên đánh giá viên.</a:t>
            </a:r>
            <a:endParaRPr lang="en-US" sz="1320" dirty="0"/>
          </a:p>
        </p:txBody>
      </p:sp>
      <p:sp>
        <p:nvSpPr>
          <p:cNvPr id="8" name="Shape 6"/>
          <p:cNvSpPr/>
          <p:nvPr/>
        </p:nvSpPr>
        <p:spPr>
          <a:xfrm>
            <a:off x="6446520" y="1143000"/>
            <a:ext cx="4526280" cy="4251960"/>
          </a:xfrm>
          <a:prstGeom prst="roundRect">
            <a:avLst>
              <a:gd name="adj" fmla="val 3871"/>
            </a:avLst>
          </a:prstGeom>
          <a:solidFill>
            <a:srgbClr val="0B4FD8"/>
          </a:solidFill>
          <a:ln w="12700">
            <a:solidFill>
              <a:srgbClr val="0B4FD8"/>
            </a:solidFill>
            <a:prstDash val="solid"/>
          </a:ln>
        </p:spPr>
      </p:sp>
      <p:sp>
        <p:nvSpPr>
          <p:cNvPr id="9" name="Text 7"/>
          <p:cNvSpPr/>
          <p:nvPr/>
        </p:nvSpPr>
        <p:spPr>
          <a:xfrm>
            <a:off x="6812280" y="1627632"/>
            <a:ext cx="3474720" cy="274320"/>
          </a:xfrm>
          <a:prstGeom prst="rect">
            <a:avLst/>
          </a:prstGeom>
          <a:noFill/>
          <a:ln/>
        </p:spPr>
        <p:txBody>
          <a:bodyPr wrap="square" lIns="0" tIns="0" rIns="0" bIns="0" rtlCol="0" anchor="ctr"/>
          <a:lstStyle/>
          <a:p>
            <a:pPr indent="0" marL="0">
              <a:buNone/>
            </a:pPr>
            <a:r>
              <a:rPr lang="en-US" sz="2200" b="1" dirty="0">
                <a:solidFill>
                  <a:srgbClr val="FFFFFF"/>
                </a:solidFill>
              </a:rPr>
              <a:t>Thông điệp bảo vệ</a:t>
            </a:r>
            <a:endParaRPr lang="en-US" sz="2200" dirty="0"/>
          </a:p>
        </p:txBody>
      </p:sp>
      <p:sp>
        <p:nvSpPr>
          <p:cNvPr id="10" name="Text 8"/>
          <p:cNvSpPr/>
          <p:nvPr/>
        </p:nvSpPr>
        <p:spPr>
          <a:xfrm>
            <a:off x="6812280" y="2240280"/>
            <a:ext cx="3611880" cy="1325880"/>
          </a:xfrm>
          <a:prstGeom prst="rect">
            <a:avLst/>
          </a:prstGeom>
          <a:noFill/>
          <a:ln/>
        </p:spPr>
        <p:txBody>
          <a:bodyPr wrap="square" lIns="381" tIns="381" rIns="381" bIns="381" rtlCol="0" anchor="ctr">
            <a:normAutofit/>
          </a:bodyPr>
          <a:lstStyle/>
          <a:p>
            <a:pPr indent="0" marL="0">
              <a:buNone/>
            </a:pPr>
            <a:r>
              <a:rPr lang="en-US" sz="1800" b="1" dirty="0">
                <a:solidFill>
                  <a:srgbClr val="FFFFFF"/>
                </a:solidFill>
              </a:rPr>
              <a:t>Hệ thống không chỉ quản lý cuộc thi mà còn tạo dữ liệu minh bạch để kiểm tra chất lượng chấm điểm. Đây là điểm khác biệt giúp đề tài có cả giá trị ứng dụng và giá trị nghiên cứu.</a:t>
            </a:r>
            <a:endParaRPr lang="en-US" sz="1800" dirty="0"/>
          </a:p>
        </p:txBody>
      </p:sp>
      <p:sp>
        <p:nvSpPr>
          <p:cNvPr id="11" name="Text 9"/>
          <p:cNvSpPr/>
          <p:nvPr/>
        </p:nvSpPr>
        <p:spPr>
          <a:xfrm>
            <a:off x="6812280" y="4434840"/>
            <a:ext cx="3611880" cy="292608"/>
          </a:xfrm>
          <a:prstGeom prst="rect">
            <a:avLst/>
          </a:prstGeom>
          <a:noFill/>
          <a:ln/>
        </p:spPr>
        <p:txBody>
          <a:bodyPr wrap="square" lIns="0" tIns="0" rIns="0" bIns="0" rtlCol="0" anchor="ctr"/>
          <a:lstStyle/>
          <a:p>
            <a:pPr indent="0" marL="0">
              <a:buNone/>
            </a:pPr>
            <a:r>
              <a:rPr lang="en-US" sz="1600" b="1" dirty="0">
                <a:solidFill>
                  <a:srgbClr val="DDEBFF"/>
                </a:solidFill>
              </a:rPr>
              <a:t>Xin cảm ơn thầy/cô đã lắng nghe.</a:t>
            </a:r>
            <a:endParaRPr lang="en-US" sz="1600" dirty="0"/>
          </a:p>
        </p:txBody>
      </p:sp>
      <p:sp>
        <p:nvSpPr>
          <p:cNvPr id="12" name="Shape 10"/>
          <p:cNvSpPr/>
          <p:nvPr/>
        </p:nvSpPr>
        <p:spPr>
          <a:xfrm>
            <a:off x="594360" y="6473952"/>
            <a:ext cx="11018520" cy="0"/>
          </a:xfrm>
          <a:prstGeom prst="line">
            <a:avLst/>
          </a:prstGeom>
          <a:noFill/>
          <a:ln w="10160">
            <a:solidFill>
              <a:srgbClr val="D8E4F7"/>
            </a:solidFill>
            <a:prstDash val="solid"/>
          </a:ln>
        </p:spPr>
      </p:sp>
      <p:sp>
        <p:nvSpPr>
          <p:cNvPr id="13" name="Text 11"/>
          <p:cNvSpPr/>
          <p:nvPr/>
        </p:nvSpPr>
        <p:spPr>
          <a:xfrm>
            <a:off x="594360" y="6565392"/>
            <a:ext cx="5760720" cy="164592"/>
          </a:xfrm>
          <a:prstGeom prst="rect">
            <a:avLst/>
          </a:prstGeom>
          <a:noFill/>
          <a:ln/>
        </p:spPr>
        <p:txBody>
          <a:bodyPr wrap="square" lIns="0" tIns="0" rIns="0" bIns="0" rtlCol="0" anchor="ctr"/>
          <a:lstStyle/>
          <a:p>
            <a:pPr indent="0" marL="0">
              <a:buNone/>
            </a:pPr>
            <a:r>
              <a:rPr lang="en-US" sz="720" dirty="0">
                <a:solidFill>
                  <a:srgbClr val="64748B"/>
                </a:solidFill>
              </a:rPr>
              <a:t>SEAL Hackathon Management System · SU26SWP04</a:t>
            </a:r>
            <a:endParaRPr lang="en-US" sz="720" dirty="0"/>
          </a:p>
        </p:txBody>
      </p:sp>
      <p:sp>
        <p:nvSpPr>
          <p:cNvPr id="14" name="Text 12"/>
          <p:cNvSpPr/>
          <p:nvPr/>
        </p:nvSpPr>
        <p:spPr>
          <a:xfrm>
            <a:off x="11109960" y="6528816"/>
            <a:ext cx="502920" cy="228600"/>
          </a:xfrm>
          <a:prstGeom prst="rect">
            <a:avLst/>
          </a:prstGeom>
          <a:noFill/>
          <a:ln/>
        </p:spPr>
        <p:txBody>
          <a:bodyPr wrap="square" lIns="0" tIns="0" rIns="0" bIns="0" rtlCol="0" anchor="ctr"/>
          <a:lstStyle/>
          <a:p>
            <a:pPr algn="r" indent="0" marL="0">
              <a:buNone/>
            </a:pPr>
            <a:r>
              <a:rPr lang="en-US" sz="800" b="1" dirty="0">
                <a:solidFill>
                  <a:srgbClr val="64748B"/>
                </a:solidFill>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SEAL Hackathon Management System - Presentation</dc:title>
  <dc:subject>SEAL Hackathon Management System</dc:subject>
  <dc:creator>OpenAI</dc:creator>
  <cp:lastModifiedBy>OpenAI</cp:lastModifiedBy>
  <cp:revision>1</cp:revision>
  <dcterms:created xsi:type="dcterms:W3CDTF">2026-07-03T15:40:20Z</dcterms:created>
  <dcterms:modified xsi:type="dcterms:W3CDTF">2026-07-03T15:40:20Z</dcterms:modified>
</cp:coreProperties>
</file>